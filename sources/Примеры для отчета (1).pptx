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2" r:id="rId9"/>
    <p:sldId id="270" r:id="rId10"/>
    <p:sldId id="271" r:id="rId11"/>
    <p:sldId id="272" r:id="rId12"/>
    <p:sldId id="273" r:id="rId13"/>
    <p:sldId id="274" r:id="rId14"/>
    <p:sldId id="275" r:id="rId15"/>
    <p:sldId id="263" r:id="rId16"/>
    <p:sldId id="264" r:id="rId17"/>
    <p:sldId id="266" r:id="rId18"/>
    <p:sldId id="269" r:id="rId19"/>
    <p:sldId id="268" r:id="rId20"/>
    <p:sldId id="267" r:id="rId21"/>
    <p:sldId id="276" r:id="rId22"/>
    <p:sldId id="277" r:id="rId23"/>
    <p:sldId id="278" r:id="rId24"/>
    <p:sldId id="279" r:id="rId25"/>
    <p:sldId id="280" r:id="rId2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68" d="100"/>
          <a:sy n="68" d="100"/>
        </p:scale>
        <p:origin x="1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3" Type="http://schemas.openxmlformats.org/officeDocument/2006/relationships/package" Target="../embeddings/_____Microsoft_Excel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Microsoft_Excel2.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2400"/>
            </a:pPr>
            <a:r>
              <a:rPr lang="ru-RU" sz="2400"/>
              <a:t>Асимметрия остатков</a:t>
            </a:r>
          </a:p>
        </c:rich>
      </c:tx>
      <c:layout/>
      <c:overlay val="0"/>
    </c:title>
    <c:autoTitleDeleted val="0"/>
    <c:plotArea>
      <c:layout/>
      <c:barChart>
        <c:barDir val="col"/>
        <c:grouping val="clustered"/>
        <c:varyColors val="0"/>
        <c:ser>
          <c:idx val="0"/>
          <c:order val="0"/>
          <c:tx>
            <c:v>Частота</c:v>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Лист2!$H$37:$H$48</c:f>
              <c:strCache>
                <c:ptCount val="12"/>
                <c:pt idx="0">
                  <c:v>-60,00</c:v>
                </c:pt>
                <c:pt idx="1">
                  <c:v>-50,00</c:v>
                </c:pt>
                <c:pt idx="2">
                  <c:v>-40,00</c:v>
                </c:pt>
                <c:pt idx="3">
                  <c:v>-30,00</c:v>
                </c:pt>
                <c:pt idx="4">
                  <c:v>-20,00</c:v>
                </c:pt>
                <c:pt idx="5">
                  <c:v>-10,00</c:v>
                </c:pt>
                <c:pt idx="6">
                  <c:v>0,00</c:v>
                </c:pt>
                <c:pt idx="7">
                  <c:v>10,00</c:v>
                </c:pt>
                <c:pt idx="8">
                  <c:v>20,00</c:v>
                </c:pt>
                <c:pt idx="9">
                  <c:v>30,00</c:v>
                </c:pt>
                <c:pt idx="10">
                  <c:v>40,00</c:v>
                </c:pt>
                <c:pt idx="11">
                  <c:v>Еще</c:v>
                </c:pt>
              </c:strCache>
            </c:strRef>
          </c:cat>
          <c:val>
            <c:numRef>
              <c:f>Лист2!$I$37:$I$48</c:f>
              <c:numCache>
                <c:formatCode>General</c:formatCode>
                <c:ptCount val="12"/>
                <c:pt idx="0">
                  <c:v>0</c:v>
                </c:pt>
                <c:pt idx="1">
                  <c:v>0</c:v>
                </c:pt>
                <c:pt idx="2">
                  <c:v>1</c:v>
                </c:pt>
                <c:pt idx="3">
                  <c:v>1</c:v>
                </c:pt>
                <c:pt idx="4">
                  <c:v>2</c:v>
                </c:pt>
                <c:pt idx="5">
                  <c:v>4</c:v>
                </c:pt>
                <c:pt idx="6">
                  <c:v>2</c:v>
                </c:pt>
                <c:pt idx="7">
                  <c:v>3</c:v>
                </c:pt>
                <c:pt idx="8">
                  <c:v>2</c:v>
                </c:pt>
                <c:pt idx="9">
                  <c:v>7</c:v>
                </c:pt>
                <c:pt idx="10">
                  <c:v>0</c:v>
                </c:pt>
                <c:pt idx="11">
                  <c:v>0</c:v>
                </c:pt>
              </c:numCache>
            </c:numRef>
          </c:val>
          <c:extLst>
            <c:ext xmlns:c16="http://schemas.microsoft.com/office/drawing/2014/chart" uri="{C3380CC4-5D6E-409C-BE32-E72D297353CC}">
              <c16:uniqueId val="{00000000-289A-400D-93B2-9B140B66493E}"/>
            </c:ext>
          </c:extLst>
        </c:ser>
        <c:dLbls>
          <c:showLegendKey val="0"/>
          <c:showVal val="0"/>
          <c:showCatName val="0"/>
          <c:showSerName val="0"/>
          <c:showPercent val="0"/>
          <c:showBubbleSize val="0"/>
        </c:dLbls>
        <c:gapWidth val="0"/>
        <c:axId val="518836256"/>
        <c:axId val="518835928"/>
      </c:barChart>
      <c:catAx>
        <c:axId val="518836256"/>
        <c:scaling>
          <c:orientation val="minMax"/>
        </c:scaling>
        <c:delete val="0"/>
        <c:axPos val="b"/>
        <c:title>
          <c:tx>
            <c:rich>
              <a:bodyPr/>
              <a:lstStyle/>
              <a:p>
                <a:pPr>
                  <a:defRPr/>
                </a:pPr>
                <a:r>
                  <a:rPr lang="ru-RU"/>
                  <a:t>Интервал</a:t>
                </a:r>
              </a:p>
            </c:rich>
          </c:tx>
          <c:layout/>
          <c:overlay val="0"/>
        </c:title>
        <c:numFmt formatCode="General" sourceLinked="1"/>
        <c:majorTickMark val="out"/>
        <c:minorTickMark val="none"/>
        <c:tickLblPos val="nextTo"/>
        <c:crossAx val="518835928"/>
        <c:crosses val="autoZero"/>
        <c:auto val="1"/>
        <c:lblAlgn val="ctr"/>
        <c:lblOffset val="100"/>
        <c:noMultiLvlLbl val="0"/>
      </c:catAx>
      <c:valAx>
        <c:axId val="518835928"/>
        <c:scaling>
          <c:orientation val="minMax"/>
        </c:scaling>
        <c:delete val="0"/>
        <c:axPos val="l"/>
        <c:title>
          <c:tx>
            <c:rich>
              <a:bodyPr/>
              <a:lstStyle/>
              <a:p>
                <a:pPr>
                  <a:defRPr/>
                </a:pPr>
                <a:r>
                  <a:rPr lang="ru-RU"/>
                  <a:t>Частота</a:t>
                </a:r>
              </a:p>
            </c:rich>
          </c:tx>
          <c:layout/>
          <c:overlay val="0"/>
        </c:title>
        <c:numFmt formatCode="General" sourceLinked="1"/>
        <c:majorTickMark val="out"/>
        <c:minorTickMark val="none"/>
        <c:tickLblPos val="nextTo"/>
        <c:crossAx val="518836256"/>
        <c:crosses val="autoZero"/>
        <c:crossBetween val="between"/>
      </c:valAx>
    </c:plotArea>
    <c:legend>
      <c:legendPos val="r"/>
      <c:layout/>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1"/>
    </mc:Choice>
    <mc:Fallback>
      <c:style val="1"/>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scatterChart>
        <c:scatterStyle val="lineMarker"/>
        <c:varyColors val="0"/>
        <c:ser>
          <c:idx val="0"/>
          <c:order val="0"/>
          <c:tx>
            <c:strRef>
              <c:f>Лист2!$E$24</c:f>
              <c:strCache>
                <c:ptCount val="1"/>
                <c:pt idx="0">
                  <c:v>Остатки</c:v>
                </c:pt>
              </c:strCache>
            </c:strRef>
          </c:tx>
          <c:spPr>
            <a:ln w="28575" cap="rnd">
              <a:noFill/>
              <a:round/>
            </a:ln>
            <a:effectLst/>
          </c:spPr>
          <c:marker>
            <c:symbol val="circle"/>
            <c:size val="5"/>
            <c:spPr>
              <a:solidFill>
                <a:schemeClr val="dk1">
                  <a:tint val="88500"/>
                </a:schemeClr>
              </a:solidFill>
              <a:ln w="9525">
                <a:solidFill>
                  <a:schemeClr val="dk1">
                    <a:tint val="88500"/>
                  </a:schemeClr>
                </a:solidFill>
              </a:ln>
              <a:effectLst/>
            </c:spPr>
          </c:marker>
          <c:xVal>
            <c:numRef>
              <c:f>Лист2!$D$25:$D$46</c:f>
              <c:numCache>
                <c:formatCode>General</c:formatCode>
                <c:ptCount val="22"/>
                <c:pt idx="0">
                  <c:v>160</c:v>
                </c:pt>
                <c:pt idx="1">
                  <c:v>60</c:v>
                </c:pt>
                <c:pt idx="2">
                  <c:v>70</c:v>
                </c:pt>
                <c:pt idx="3">
                  <c:v>200</c:v>
                </c:pt>
                <c:pt idx="4">
                  <c:v>240</c:v>
                </c:pt>
                <c:pt idx="5">
                  <c:v>100</c:v>
                </c:pt>
                <c:pt idx="6">
                  <c:v>170</c:v>
                </c:pt>
                <c:pt idx="7">
                  <c:v>180</c:v>
                </c:pt>
                <c:pt idx="8">
                  <c:v>130</c:v>
                </c:pt>
                <c:pt idx="9">
                  <c:v>210</c:v>
                </c:pt>
                <c:pt idx="10">
                  <c:v>150</c:v>
                </c:pt>
                <c:pt idx="11">
                  <c:v>50</c:v>
                </c:pt>
                <c:pt idx="12">
                  <c:v>110</c:v>
                </c:pt>
                <c:pt idx="13">
                  <c:v>120</c:v>
                </c:pt>
                <c:pt idx="14">
                  <c:v>190</c:v>
                </c:pt>
                <c:pt idx="15">
                  <c:v>80</c:v>
                </c:pt>
                <c:pt idx="16">
                  <c:v>140</c:v>
                </c:pt>
                <c:pt idx="17">
                  <c:v>220</c:v>
                </c:pt>
                <c:pt idx="18">
                  <c:v>230</c:v>
                </c:pt>
                <c:pt idx="19">
                  <c:v>90</c:v>
                </c:pt>
                <c:pt idx="20">
                  <c:v>260</c:v>
                </c:pt>
                <c:pt idx="21">
                  <c:v>250</c:v>
                </c:pt>
              </c:numCache>
            </c:numRef>
          </c:xVal>
          <c:yVal>
            <c:numRef>
              <c:f>Лист2!$E$25:$E$46</c:f>
              <c:numCache>
                <c:formatCode>General</c:formatCode>
                <c:ptCount val="22"/>
                <c:pt idx="0">
                  <c:v>21.91287408243933</c:v>
                </c:pt>
                <c:pt idx="1">
                  <c:v>-27.69915302089214</c:v>
                </c:pt>
                <c:pt idx="2">
                  <c:v>-13.32795031055899</c:v>
                </c:pt>
                <c:pt idx="3">
                  <c:v>2.1976849237719023</c:v>
                </c:pt>
                <c:pt idx="4">
                  <c:v>-16.01750423489554</c:v>
                </c:pt>
                <c:pt idx="5">
                  <c:v>3.0856578204404457</c:v>
                </c:pt>
                <c:pt idx="6">
                  <c:v>20.084076792772464</c:v>
                </c:pt>
                <c:pt idx="7">
                  <c:v>23.655279503105618</c:v>
                </c:pt>
                <c:pt idx="8">
                  <c:v>20.999265951439881</c:v>
                </c:pt>
                <c:pt idx="9">
                  <c:v>7.2688876341050275</c:v>
                </c:pt>
                <c:pt idx="10">
                  <c:v>25.841671372106177</c:v>
                </c:pt>
                <c:pt idx="11">
                  <c:v>-44.870355731225288</c:v>
                </c:pt>
                <c:pt idx="12">
                  <c:v>15.156860530773585</c:v>
                </c:pt>
                <c:pt idx="13">
                  <c:v>21.428063241106727</c:v>
                </c:pt>
                <c:pt idx="14">
                  <c:v>16.526482213438754</c:v>
                </c:pt>
                <c:pt idx="15">
                  <c:v>-4.9567476002258388</c:v>
                </c:pt>
                <c:pt idx="16">
                  <c:v>26.47046866177304</c:v>
                </c:pt>
                <c:pt idx="17">
                  <c:v>-4.9599096555618303</c:v>
                </c:pt>
                <c:pt idx="18">
                  <c:v>-19.588706945228694</c:v>
                </c:pt>
                <c:pt idx="19">
                  <c:v>-13.485544889892694</c:v>
                </c:pt>
                <c:pt idx="20">
                  <c:v>-32.375098814229233</c:v>
                </c:pt>
                <c:pt idx="21">
                  <c:v>-27.346301524562392</c:v>
                </c:pt>
              </c:numCache>
            </c:numRef>
          </c:yVal>
          <c:smooth val="0"/>
          <c:extLst>
            <c:ext xmlns:c16="http://schemas.microsoft.com/office/drawing/2014/chart" uri="{C3380CC4-5D6E-409C-BE32-E72D297353CC}">
              <c16:uniqueId val="{00000000-0A5A-4891-B426-A0A4A6E21C73}"/>
            </c:ext>
          </c:extLst>
        </c:ser>
        <c:dLbls>
          <c:showLegendKey val="0"/>
          <c:showVal val="0"/>
          <c:showCatName val="0"/>
          <c:showSerName val="0"/>
          <c:showPercent val="0"/>
          <c:showBubbleSize val="0"/>
        </c:dLbls>
        <c:axId val="519947808"/>
        <c:axId val="519950104"/>
      </c:scatterChart>
      <c:valAx>
        <c:axId val="51994780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19950104"/>
        <c:crosses val="autoZero"/>
        <c:crossBetween val="midCat"/>
      </c:valAx>
      <c:valAx>
        <c:axId val="519950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1994780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1"/>
    </mc:Choice>
    <mc:Fallback>
      <c:style val="1"/>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ru-RU"/>
        </a:p>
      </c:txPr>
    </c:title>
    <c:autoTitleDeleted val="0"/>
    <c:plotArea>
      <c:layout/>
      <c:scatterChart>
        <c:scatterStyle val="lineMarker"/>
        <c:varyColors val="0"/>
        <c:ser>
          <c:idx val="0"/>
          <c:order val="0"/>
          <c:tx>
            <c:strRef>
              <c:f>Лист1!$B$1</c:f>
              <c:strCache>
                <c:ptCount val="1"/>
                <c:pt idx="0">
                  <c:v>Прибыль</c:v>
                </c:pt>
              </c:strCache>
            </c:strRef>
          </c:tx>
          <c:spPr>
            <a:ln w="28575" cap="rnd">
              <a:noFill/>
              <a:round/>
            </a:ln>
            <a:effectLst/>
          </c:spPr>
          <c:marker>
            <c:symbol val="circle"/>
            <c:size val="5"/>
            <c:spPr>
              <a:solidFill>
                <a:schemeClr val="dk1">
                  <a:tint val="88500"/>
                </a:schemeClr>
              </a:solidFill>
              <a:ln w="9525">
                <a:solidFill>
                  <a:schemeClr val="dk1">
                    <a:tint val="88500"/>
                  </a:schemeClr>
                </a:solidFill>
              </a:ln>
              <a:effectLst/>
            </c:spPr>
          </c:marker>
          <c:xVal>
            <c:numRef>
              <c:f>Лист1!$A$2:$A$23</c:f>
              <c:numCache>
                <c:formatCode>General</c:formatCode>
                <c:ptCount val="22"/>
                <c:pt idx="0">
                  <c:v>160</c:v>
                </c:pt>
                <c:pt idx="1">
                  <c:v>60</c:v>
                </c:pt>
                <c:pt idx="2">
                  <c:v>70</c:v>
                </c:pt>
                <c:pt idx="3">
                  <c:v>200</c:v>
                </c:pt>
                <c:pt idx="4">
                  <c:v>240</c:v>
                </c:pt>
                <c:pt idx="5">
                  <c:v>100</c:v>
                </c:pt>
                <c:pt idx="6">
                  <c:v>170</c:v>
                </c:pt>
                <c:pt idx="7">
                  <c:v>180</c:v>
                </c:pt>
                <c:pt idx="8">
                  <c:v>130</c:v>
                </c:pt>
                <c:pt idx="9">
                  <c:v>210</c:v>
                </c:pt>
                <c:pt idx="10">
                  <c:v>150</c:v>
                </c:pt>
                <c:pt idx="11">
                  <c:v>50</c:v>
                </c:pt>
                <c:pt idx="12">
                  <c:v>110</c:v>
                </c:pt>
                <c:pt idx="13">
                  <c:v>120</c:v>
                </c:pt>
                <c:pt idx="14">
                  <c:v>190</c:v>
                </c:pt>
                <c:pt idx="15">
                  <c:v>80</c:v>
                </c:pt>
                <c:pt idx="16">
                  <c:v>140</c:v>
                </c:pt>
                <c:pt idx="17">
                  <c:v>220</c:v>
                </c:pt>
                <c:pt idx="18">
                  <c:v>230</c:v>
                </c:pt>
                <c:pt idx="19">
                  <c:v>90</c:v>
                </c:pt>
                <c:pt idx="20">
                  <c:v>260</c:v>
                </c:pt>
                <c:pt idx="21">
                  <c:v>250</c:v>
                </c:pt>
              </c:numCache>
            </c:numRef>
          </c:xVal>
          <c:yVal>
            <c:numRef>
              <c:f>Лист1!$B$2:$B$23</c:f>
              <c:numCache>
                <c:formatCode>General</c:formatCode>
                <c:ptCount val="22"/>
                <c:pt idx="0">
                  <c:v>142.4</c:v>
                </c:pt>
                <c:pt idx="1">
                  <c:v>29.5</c:v>
                </c:pt>
                <c:pt idx="2">
                  <c:v>50.2</c:v>
                </c:pt>
                <c:pt idx="3">
                  <c:v>148</c:v>
                </c:pt>
                <c:pt idx="4">
                  <c:v>155.1</c:v>
                </c:pt>
                <c:pt idx="5">
                  <c:v>85.6</c:v>
                </c:pt>
                <c:pt idx="6">
                  <c:v>146.9</c:v>
                </c:pt>
                <c:pt idx="7">
                  <c:v>156.80000000000001</c:v>
                </c:pt>
                <c:pt idx="8">
                  <c:v>122.5</c:v>
                </c:pt>
                <c:pt idx="9">
                  <c:v>159.4</c:v>
                </c:pt>
                <c:pt idx="10">
                  <c:v>140</c:v>
                </c:pt>
                <c:pt idx="11">
                  <c:v>6</c:v>
                </c:pt>
                <c:pt idx="12">
                  <c:v>104</c:v>
                </c:pt>
                <c:pt idx="13">
                  <c:v>116.6</c:v>
                </c:pt>
                <c:pt idx="14">
                  <c:v>156</c:v>
                </c:pt>
                <c:pt idx="15">
                  <c:v>64.900000000000006</c:v>
                </c:pt>
                <c:pt idx="16">
                  <c:v>134.30000000000001</c:v>
                </c:pt>
                <c:pt idx="17">
                  <c:v>153.5</c:v>
                </c:pt>
                <c:pt idx="18">
                  <c:v>145.19999999999999</c:v>
                </c:pt>
                <c:pt idx="19">
                  <c:v>62.7</c:v>
                </c:pt>
                <c:pt idx="20">
                  <c:v>151.4</c:v>
                </c:pt>
                <c:pt idx="21">
                  <c:v>150.1</c:v>
                </c:pt>
              </c:numCache>
            </c:numRef>
          </c:yVal>
          <c:smooth val="0"/>
          <c:extLst>
            <c:ext xmlns:c16="http://schemas.microsoft.com/office/drawing/2014/chart" uri="{C3380CC4-5D6E-409C-BE32-E72D297353CC}">
              <c16:uniqueId val="{00000000-78BB-42D5-B4D0-0C5DB3F2B0EE}"/>
            </c:ext>
          </c:extLst>
        </c:ser>
        <c:dLbls>
          <c:showLegendKey val="0"/>
          <c:showVal val="0"/>
          <c:showCatName val="0"/>
          <c:showSerName val="0"/>
          <c:showPercent val="0"/>
          <c:showBubbleSize val="0"/>
        </c:dLbls>
        <c:axId val="519926488"/>
        <c:axId val="519926816"/>
      </c:scatterChart>
      <c:valAx>
        <c:axId val="51992648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19926816"/>
        <c:crosses val="autoZero"/>
        <c:crossBetween val="midCat"/>
      </c:valAx>
      <c:valAx>
        <c:axId val="519926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ru-RU"/>
          </a:p>
        </c:txPr>
        <c:crossAx val="51992648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A884B02-CF2C-4895-B313-EFA491406525}" type="datetimeFigureOut">
              <a:rPr lang="ru-RU" smtClean="0"/>
              <a:t>26.02.2020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3340549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A884B02-CF2C-4895-B313-EFA491406525}" type="datetimeFigureOut">
              <a:rPr lang="ru-RU" smtClean="0"/>
              <a:t>26.02.2020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1706859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A884B02-CF2C-4895-B313-EFA491406525}" type="datetimeFigureOut">
              <a:rPr lang="ru-RU" smtClean="0"/>
              <a:t>26.02.2020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171486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A884B02-CF2C-4895-B313-EFA491406525}" type="datetimeFigureOut">
              <a:rPr lang="ru-RU" smtClean="0"/>
              <a:t>26.02.2020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219484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A884B02-CF2C-4895-B313-EFA491406525}" type="datetimeFigureOut">
              <a:rPr lang="ru-RU" smtClean="0"/>
              <a:t>26.02.2020</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2306317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A884B02-CF2C-4895-B313-EFA491406525}" type="datetimeFigureOut">
              <a:rPr lang="ru-RU" smtClean="0"/>
              <a:t>26.02.2020</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726649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A884B02-CF2C-4895-B313-EFA491406525}" type="datetimeFigureOut">
              <a:rPr lang="ru-RU" smtClean="0"/>
              <a:t>26.02.2020</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1185683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0A884B02-CF2C-4895-B313-EFA491406525}" type="datetimeFigureOut">
              <a:rPr lang="ru-RU" smtClean="0"/>
              <a:t>26.02.2020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4029413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0A884B02-CF2C-4895-B313-EFA491406525}" type="datetimeFigureOut">
              <a:rPr lang="ru-RU" smtClean="0"/>
              <a:t>26.02.2020</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306856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A884B02-CF2C-4895-B313-EFA491406525}" type="datetimeFigureOut">
              <a:rPr lang="ru-RU" smtClean="0"/>
              <a:t>26.02.2020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2460993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A884B02-CF2C-4895-B313-EFA491406525}" type="datetimeFigureOut">
              <a:rPr lang="ru-RU" smtClean="0"/>
              <a:t>26.02.2020</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22FD7D5-49A4-45DA-8554-F8D353CABBE5}" type="slidenum">
              <a:rPr lang="ru-RU" smtClean="0"/>
              <a:t>‹#›</a:t>
            </a:fld>
            <a:endParaRPr lang="ru-RU"/>
          </a:p>
        </p:txBody>
      </p:sp>
    </p:spTree>
    <p:extLst>
      <p:ext uri="{BB962C8B-B14F-4D97-AF65-F5344CB8AC3E}">
        <p14:creationId xmlns:p14="http://schemas.microsoft.com/office/powerpoint/2010/main" val="1409241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884B02-CF2C-4895-B313-EFA491406525}" type="datetimeFigureOut">
              <a:rPr lang="ru-RU" smtClean="0"/>
              <a:t>26.02.2020</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2FD7D5-49A4-45DA-8554-F8D353CABBE5}" type="slidenum">
              <a:rPr lang="ru-RU" smtClean="0"/>
              <a:t>‹#›</a:t>
            </a:fld>
            <a:endParaRPr lang="ru-RU"/>
          </a:p>
        </p:txBody>
      </p:sp>
    </p:spTree>
    <p:extLst>
      <p:ext uri="{BB962C8B-B14F-4D97-AF65-F5344CB8AC3E}">
        <p14:creationId xmlns:p14="http://schemas.microsoft.com/office/powerpoint/2010/main" val="2474027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Как </a:t>
            </a:r>
            <a:r>
              <a:rPr lang="ru-RU" smtClean="0"/>
              <a:t>создавать отчет</a:t>
            </a:r>
            <a:endParaRPr lang="ru-RU" dirty="0"/>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767996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smtClean="0"/>
              <a:t>Исходные данные для анализа динамики доходности ведущих издательств в области экономики для студентов</a:t>
            </a:r>
            <a:endParaRPr lang="ru-RU" sz="3200"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821181992"/>
              </p:ext>
            </p:extLst>
          </p:nvPr>
        </p:nvGraphicFramePr>
        <p:xfrm>
          <a:off x="1206500" y="1690696"/>
          <a:ext cx="10817178" cy="5159667"/>
        </p:xfrm>
        <a:graphic>
          <a:graphicData uri="http://schemas.openxmlformats.org/drawingml/2006/table">
            <a:tbl>
              <a:tblPr>
                <a:tableStyleId>{5C22544A-7EE6-4342-B048-85BDC9FD1C3A}</a:tableStyleId>
              </a:tblPr>
              <a:tblGrid>
                <a:gridCol w="6436297">
                  <a:extLst>
                    <a:ext uri="{9D8B030D-6E8A-4147-A177-3AD203B41FA5}">
                      <a16:colId xmlns:a16="http://schemas.microsoft.com/office/drawing/2014/main" val="20000"/>
                    </a:ext>
                  </a:extLst>
                </a:gridCol>
                <a:gridCol w="4380881">
                  <a:extLst>
                    <a:ext uri="{9D8B030D-6E8A-4147-A177-3AD203B41FA5}">
                      <a16:colId xmlns:a16="http://schemas.microsoft.com/office/drawing/2014/main" val="20001"/>
                    </a:ext>
                  </a:extLst>
                </a:gridCol>
              </a:tblGrid>
              <a:tr h="945364">
                <a:tc>
                  <a:txBody>
                    <a:bodyPr/>
                    <a:lstStyle/>
                    <a:p>
                      <a:pPr algn="ctr" fontAlgn="b"/>
                      <a:r>
                        <a:rPr lang="ru-RU" sz="1600" b="1" u="none" strike="noStrike" dirty="0" smtClean="0">
                          <a:effectLst/>
                        </a:rPr>
                        <a:t>Издательство </a:t>
                      </a:r>
                      <a:endParaRPr lang="ru-RU"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ru-RU" sz="1600" b="1" u="none" strike="noStrike" dirty="0">
                          <a:effectLst/>
                          <a:latin typeface="Times New Roman" panose="02020603050405020304" pitchFamily="18" charset="0"/>
                          <a:cs typeface="Times New Roman" panose="02020603050405020304" pitchFamily="18" charset="0"/>
                        </a:rPr>
                        <a:t>рост прибыли в % по отношению </a:t>
                      </a:r>
                      <a:r>
                        <a:rPr lang="ru-RU" sz="1600" b="1" u="none" strike="noStrike" dirty="0" smtClean="0">
                          <a:effectLst/>
                          <a:latin typeface="Times New Roman" panose="02020603050405020304" pitchFamily="18" charset="0"/>
                          <a:cs typeface="Times New Roman" panose="02020603050405020304" pitchFamily="18" charset="0"/>
                        </a:rPr>
                        <a:t>к </a:t>
                      </a:r>
                      <a:r>
                        <a:rPr lang="ru-RU" sz="1600" b="1" u="none" strike="noStrike" dirty="0">
                          <a:effectLst/>
                          <a:latin typeface="Times New Roman" panose="02020603050405020304" pitchFamily="18" charset="0"/>
                          <a:cs typeface="Times New Roman" panose="02020603050405020304" pitchFamily="18" charset="0"/>
                        </a:rPr>
                        <a:t>прошлому году</a:t>
                      </a:r>
                      <a:endParaRPr lang="ru-RU"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0"/>
                  </a:ext>
                </a:extLst>
              </a:tr>
              <a:tr h="273556">
                <a:tc>
                  <a:txBody>
                    <a:bodyPr/>
                    <a:lstStyle/>
                    <a:p>
                      <a:pPr algn="l" fontAlgn="b"/>
                      <a:r>
                        <a:rPr lang="ru-RU" sz="1600" u="none" strike="noStrike">
                          <a:effectLst/>
                        </a:rPr>
                        <a:t>Студент</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13</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1"/>
                  </a:ext>
                </a:extLst>
              </a:tr>
              <a:tr h="273556">
                <a:tc>
                  <a:txBody>
                    <a:bodyPr/>
                    <a:lstStyle/>
                    <a:p>
                      <a:pPr algn="l" fontAlgn="b"/>
                      <a:r>
                        <a:rPr lang="ru-RU" sz="1600" u="none" strike="noStrike">
                          <a:effectLst/>
                        </a:rPr>
                        <a:t>Новое поколение</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9</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2"/>
                  </a:ext>
                </a:extLst>
              </a:tr>
              <a:tr h="273556">
                <a:tc>
                  <a:txBody>
                    <a:bodyPr/>
                    <a:lstStyle/>
                    <a:p>
                      <a:pPr algn="l" fontAlgn="b"/>
                      <a:r>
                        <a:rPr lang="ru-RU" sz="1600" u="none" strike="noStrike">
                          <a:effectLst/>
                        </a:rPr>
                        <a:t>Заря</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10</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3"/>
                  </a:ext>
                </a:extLst>
              </a:tr>
              <a:tr h="273556">
                <a:tc>
                  <a:txBody>
                    <a:bodyPr/>
                    <a:lstStyle/>
                    <a:p>
                      <a:pPr algn="l" fontAlgn="b"/>
                      <a:r>
                        <a:rPr lang="ru-RU" sz="1600" u="none" strike="noStrike">
                          <a:effectLst/>
                        </a:rPr>
                        <a:t>Поколение</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9</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4"/>
                  </a:ext>
                </a:extLst>
              </a:tr>
              <a:tr h="273556">
                <a:tc>
                  <a:txBody>
                    <a:bodyPr/>
                    <a:lstStyle/>
                    <a:p>
                      <a:pPr algn="l" fontAlgn="b"/>
                      <a:r>
                        <a:rPr lang="ru-RU" sz="1600" u="none" strike="noStrike">
                          <a:effectLst/>
                        </a:rPr>
                        <a:t>Ребус</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12</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5"/>
                  </a:ext>
                </a:extLst>
              </a:tr>
              <a:tr h="273556">
                <a:tc>
                  <a:txBody>
                    <a:bodyPr/>
                    <a:lstStyle/>
                    <a:p>
                      <a:pPr algn="l" fontAlgn="b"/>
                      <a:r>
                        <a:rPr lang="ru-RU" sz="1600" u="none" strike="noStrike">
                          <a:effectLst/>
                        </a:rPr>
                        <a:t>КИМ</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14</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6"/>
                  </a:ext>
                </a:extLst>
              </a:tr>
              <a:tr h="384519">
                <a:tc>
                  <a:txBody>
                    <a:bodyPr/>
                    <a:lstStyle/>
                    <a:p>
                      <a:pPr algn="l" fontAlgn="b"/>
                      <a:r>
                        <a:rPr lang="ru-RU" sz="1600" u="none" strike="noStrike">
                          <a:effectLst/>
                        </a:rPr>
                        <a:t>Современный учебник</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15</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7"/>
                  </a:ext>
                </a:extLst>
              </a:tr>
              <a:tr h="273556">
                <a:tc>
                  <a:txBody>
                    <a:bodyPr/>
                    <a:lstStyle/>
                    <a:p>
                      <a:pPr algn="l" fontAlgn="b"/>
                      <a:r>
                        <a:rPr lang="ru-RU" sz="1600" u="none" strike="noStrike" dirty="0">
                          <a:effectLst/>
                        </a:rPr>
                        <a:t>Академия</a:t>
                      </a:r>
                      <a:endParaRPr lang="ru-RU"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6</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8"/>
                  </a:ext>
                </a:extLst>
              </a:tr>
              <a:tr h="273556">
                <a:tc>
                  <a:txBody>
                    <a:bodyPr/>
                    <a:lstStyle/>
                    <a:p>
                      <a:pPr algn="l" fontAlgn="b"/>
                      <a:r>
                        <a:rPr lang="ru-RU" sz="1600" u="none" strike="noStrike">
                          <a:effectLst/>
                        </a:rPr>
                        <a:t>Чтиво</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10</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09"/>
                  </a:ext>
                </a:extLst>
              </a:tr>
              <a:tr h="273556">
                <a:tc>
                  <a:txBody>
                    <a:bodyPr/>
                    <a:lstStyle/>
                    <a:p>
                      <a:pPr algn="l" fontAlgn="b"/>
                      <a:r>
                        <a:rPr lang="ru-RU" sz="1600" u="none" strike="noStrike">
                          <a:effectLst/>
                        </a:rPr>
                        <a:t>Читатель</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5</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10"/>
                  </a:ext>
                </a:extLst>
              </a:tr>
              <a:tr h="273556">
                <a:tc>
                  <a:txBody>
                    <a:bodyPr/>
                    <a:lstStyle/>
                    <a:p>
                      <a:pPr algn="l" fontAlgn="b"/>
                      <a:r>
                        <a:rPr lang="ru-RU" sz="1600" u="none" strike="noStrike">
                          <a:effectLst/>
                        </a:rPr>
                        <a:t>Рубеж</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0</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11"/>
                  </a:ext>
                </a:extLst>
              </a:tr>
              <a:tr h="273556">
                <a:tc>
                  <a:txBody>
                    <a:bodyPr/>
                    <a:lstStyle/>
                    <a:p>
                      <a:pPr algn="l" fontAlgn="b"/>
                      <a:r>
                        <a:rPr lang="ru-RU" sz="1600" u="none" strike="noStrike">
                          <a:effectLst/>
                        </a:rPr>
                        <a:t>Тутанхамон</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11</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12"/>
                  </a:ext>
                </a:extLst>
              </a:tr>
              <a:tr h="273556">
                <a:tc>
                  <a:txBody>
                    <a:bodyPr/>
                    <a:lstStyle/>
                    <a:p>
                      <a:pPr algn="l" fontAlgn="b"/>
                      <a:r>
                        <a:rPr lang="ru-RU" sz="1600" u="none" strike="noStrike">
                          <a:effectLst/>
                        </a:rPr>
                        <a:t>Поколение </a:t>
                      </a:r>
                      <a:r>
                        <a:rPr lang="en-US" sz="1600" u="none" strike="noStrike">
                          <a:effectLst/>
                        </a:rPr>
                        <a:t>NEXT</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7</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13"/>
                  </a:ext>
                </a:extLst>
              </a:tr>
              <a:tr h="273556">
                <a:tc>
                  <a:txBody>
                    <a:bodyPr/>
                    <a:lstStyle/>
                    <a:p>
                      <a:pPr algn="l" fontAlgn="b"/>
                      <a:r>
                        <a:rPr lang="ru-RU" sz="1600" u="none" strike="noStrike">
                          <a:effectLst/>
                        </a:rPr>
                        <a:t>Треугольник</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a:effectLst/>
                          <a:latin typeface="Times New Roman" panose="02020603050405020304" pitchFamily="18" charset="0"/>
                          <a:cs typeface="Times New Roman" panose="02020603050405020304" pitchFamily="18" charset="0"/>
                        </a:rPr>
                        <a:t>-7</a:t>
                      </a:r>
                      <a:endParaRPr lang="ru-RU"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14"/>
                  </a:ext>
                </a:extLst>
              </a:tr>
              <a:tr h="273556">
                <a:tc>
                  <a:txBody>
                    <a:bodyPr/>
                    <a:lstStyle/>
                    <a:p>
                      <a:pPr algn="l" fontAlgn="b"/>
                      <a:r>
                        <a:rPr lang="ru-RU" sz="1600" u="none" strike="noStrike">
                          <a:effectLst/>
                        </a:rPr>
                        <a:t>Азбука</a:t>
                      </a:r>
                      <a:endParaRPr lang="ru-RU"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ru-RU" sz="1600" u="none" strike="noStrike" dirty="0">
                          <a:effectLst/>
                          <a:latin typeface="Times New Roman" panose="02020603050405020304" pitchFamily="18" charset="0"/>
                          <a:cs typeface="Times New Roman" panose="02020603050405020304" pitchFamily="18" charset="0"/>
                        </a:rPr>
                        <a:t>5</a:t>
                      </a:r>
                      <a:endParaRPr lang="ru-RU"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558867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Отчет</a:t>
            </a:r>
            <a:endParaRPr lang="ru-RU" dirty="0"/>
          </a:p>
        </p:txBody>
      </p:sp>
      <p:sp>
        <p:nvSpPr>
          <p:cNvPr id="3" name="Объект 2"/>
          <p:cNvSpPr>
            <a:spLocks noGrp="1"/>
          </p:cNvSpPr>
          <p:nvPr>
            <p:ph idx="1"/>
          </p:nvPr>
        </p:nvSpPr>
        <p:spPr/>
        <p:txBody>
          <a:bodyPr/>
          <a:lstStyle/>
          <a:p>
            <a:r>
              <a:rPr lang="ru-RU" dirty="0" smtClean="0"/>
              <a:t>Средняя арифметическая роста продаж составила 7,9%;</a:t>
            </a:r>
          </a:p>
          <a:p>
            <a:r>
              <a:rPr lang="ru-RU" dirty="0" smtClean="0"/>
              <a:t>Медиана -9%;</a:t>
            </a:r>
          </a:p>
          <a:p>
            <a:r>
              <a:rPr lang="ru-RU" dirty="0" smtClean="0"/>
              <a:t>Стандартное отклонение на рынке составляет 5,7%</a:t>
            </a:r>
          </a:p>
          <a:p>
            <a:r>
              <a:rPr lang="ru-RU" dirty="0" smtClean="0"/>
              <a:t>Дисперсия 32,6</a:t>
            </a:r>
          </a:p>
          <a:p>
            <a:r>
              <a:rPr lang="ru-RU" dirty="0" smtClean="0"/>
              <a:t>Наихудшие показатели –падение уровня продаж на 7%</a:t>
            </a:r>
          </a:p>
          <a:p>
            <a:r>
              <a:rPr lang="ru-RU" dirty="0" smtClean="0"/>
              <a:t>Наилучшие –рост на 15%</a:t>
            </a:r>
            <a:endParaRPr lang="ru-RU" dirty="0"/>
          </a:p>
        </p:txBody>
      </p:sp>
    </p:spTree>
    <p:extLst>
      <p:ext uri="{BB962C8B-B14F-4D97-AF65-F5344CB8AC3E}">
        <p14:creationId xmlns:p14="http://schemas.microsoft.com/office/powerpoint/2010/main" val="80520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a:xfrm>
            <a:off x="838200" y="1851383"/>
            <a:ext cx="10515600" cy="4351338"/>
          </a:xfrm>
        </p:spPr>
        <p:txBody>
          <a:bodyPr/>
          <a:lstStyle/>
          <a:p>
            <a:pPr marL="0" indent="0">
              <a:buNone/>
            </a:pPr>
            <a:r>
              <a:rPr lang="ru-RU" dirty="0" smtClean="0">
                <a:latin typeface="Times New Roman" panose="02020603050405020304" pitchFamily="18" charset="0"/>
                <a:cs typeface="Times New Roman" panose="02020603050405020304" pitchFamily="18" charset="0"/>
              </a:rPr>
              <a:t>А какой вывод??? –спросил начальник</a:t>
            </a:r>
          </a:p>
          <a:p>
            <a:pPr marL="0" indent="0">
              <a:buNone/>
            </a:pPr>
            <a:r>
              <a:rPr lang="ru-RU" dirty="0" smtClean="0">
                <a:latin typeface="Times New Roman" panose="02020603050405020304" pitchFamily="18" charset="0"/>
                <a:cs typeface="Times New Roman" panose="02020603050405020304" pitchFamily="18" charset="0"/>
              </a:rPr>
              <a:t>А это и есть выводы- сказал подчиненный.</a:t>
            </a:r>
          </a:p>
          <a:p>
            <a:pPr marL="0" indent="0">
              <a:buNone/>
            </a:pPr>
            <a:r>
              <a:rPr lang="ru-RU" dirty="0" smtClean="0">
                <a:latin typeface="Times New Roman" panose="02020603050405020304" pitchFamily="18" charset="0"/>
                <a:cs typeface="Times New Roman" panose="02020603050405020304" pitchFamily="18" charset="0"/>
              </a:rPr>
              <a:t>«Все, о чем можно сказать, должно быть сказано ясно, обо всем остальном следует молчать» (</a:t>
            </a:r>
            <a:r>
              <a:rPr lang="ru-RU" dirty="0" err="1" smtClean="0">
                <a:latin typeface="Times New Roman" panose="02020603050405020304" pitchFamily="18" charset="0"/>
                <a:cs typeface="Times New Roman" panose="02020603050405020304" pitchFamily="18" charset="0"/>
              </a:rPr>
              <a:t>Л.Витгенштейн</a:t>
            </a:r>
            <a:r>
              <a:rPr lang="ru-RU" dirty="0" smtClean="0">
                <a:latin typeface="Times New Roman" panose="02020603050405020304" pitchFamily="18" charset="0"/>
                <a:cs typeface="Times New Roman" panose="02020603050405020304" pitchFamily="18" charset="0"/>
              </a:rPr>
              <a:t>)</a:t>
            </a:r>
          </a:p>
          <a:p>
            <a:pPr marL="0" indent="0">
              <a:buNone/>
            </a:pPr>
            <a:r>
              <a:rPr lang="ru-RU" dirty="0" smtClean="0">
                <a:latin typeface="Times New Roman" panose="02020603050405020304" pitchFamily="18" charset="0"/>
                <a:cs typeface="Times New Roman" panose="02020603050405020304" pitchFamily="18" charset="0"/>
              </a:rPr>
              <a:t>Выводы должны быть конкретны и должны быть выражены на доступном для потребителей профессиональном языке:</a:t>
            </a:r>
          </a:p>
          <a:p>
            <a:pPr marL="0" indent="0">
              <a:buNone/>
            </a:pPr>
            <a:r>
              <a:rPr lang="ru-RU" dirty="0" smtClean="0">
                <a:latin typeface="Times New Roman" panose="02020603050405020304" pitchFamily="18" charset="0"/>
                <a:cs typeface="Times New Roman" panose="02020603050405020304" pitchFamily="18" charset="0"/>
              </a:rPr>
              <a:t>-должна быть ясной логика решения задачи;</a:t>
            </a:r>
          </a:p>
          <a:p>
            <a:pPr marL="0" indent="0">
              <a:buNone/>
            </a:pPr>
            <a:r>
              <a:rPr lang="ru-RU" dirty="0" smtClean="0">
                <a:latin typeface="Times New Roman" panose="02020603050405020304" pitchFamily="18" charset="0"/>
                <a:cs typeface="Times New Roman" panose="02020603050405020304" pitchFamily="18" charset="0"/>
              </a:rPr>
              <a:t>-количественные выводы и графики должны обосновывать, а не заменять итоговые качественные результаты</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4552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5910" y="365125"/>
            <a:ext cx="12076090" cy="1231855"/>
          </a:xfrm>
        </p:spPr>
        <p:txBody>
          <a:bodyPr>
            <a:noAutofit/>
          </a:bodyPr>
          <a:lstStyle/>
          <a:p>
            <a:pPr marL="0" indent="0"/>
            <a:r>
              <a:rPr lang="ru-RU" sz="3600" dirty="0">
                <a:latin typeface="Times New Roman" panose="02020603050405020304" pitchFamily="18" charset="0"/>
                <a:cs typeface="Times New Roman" panose="02020603050405020304" pitchFamily="18" charset="0"/>
              </a:rPr>
              <a:t>Задача статистического анализа </a:t>
            </a:r>
            <a:r>
              <a:rPr lang="ru-RU" sz="3600" dirty="0" smtClean="0">
                <a:latin typeface="Times New Roman" panose="02020603050405020304" pitchFamily="18" charset="0"/>
                <a:cs typeface="Times New Roman" panose="02020603050405020304" pitchFamily="18" charset="0"/>
              </a:rPr>
              <a:t>–</a:t>
            </a:r>
            <a:r>
              <a:rPr lang="en-US" sz="3600" dirty="0" smtClean="0">
                <a:latin typeface="Times New Roman" panose="02020603050405020304" pitchFamily="18" charset="0"/>
                <a:cs typeface="Times New Roman" panose="02020603050405020304" pitchFamily="18" charset="0"/>
              </a:rPr>
              <a:t> </a:t>
            </a:r>
            <a:r>
              <a:rPr lang="ru-RU" sz="3600" dirty="0" smtClean="0">
                <a:latin typeface="Times New Roman" panose="02020603050405020304" pitchFamily="18" charset="0"/>
                <a:cs typeface="Times New Roman" panose="02020603050405020304" pitchFamily="18" charset="0"/>
              </a:rPr>
              <a:t>найти </a:t>
            </a:r>
            <a:r>
              <a:rPr lang="ru-RU" sz="3600" dirty="0">
                <a:latin typeface="Times New Roman" panose="02020603050405020304" pitchFamily="18" charset="0"/>
                <a:cs typeface="Times New Roman" panose="02020603050405020304" pitchFamily="18" charset="0"/>
              </a:rPr>
              <a:t>ответ на конкретную прикладную проблему, дать рекомендации для ЛПР, убедить в важности и обоснованности выводов.</a:t>
            </a:r>
          </a:p>
        </p:txBody>
      </p:sp>
      <p:sp>
        <p:nvSpPr>
          <p:cNvPr id="3" name="Объект 2"/>
          <p:cNvSpPr>
            <a:spLocks noGrp="1"/>
          </p:cNvSpPr>
          <p:nvPr>
            <p:ph idx="1"/>
          </p:nvPr>
        </p:nvSpPr>
        <p:spPr>
          <a:xfrm>
            <a:off x="115910" y="1867437"/>
            <a:ext cx="11719775" cy="4990563"/>
          </a:xfrm>
        </p:spPr>
        <p:txBody>
          <a:bodyPr>
            <a:normAutofit fontScale="92500" lnSpcReduction="10000"/>
          </a:bodyPr>
          <a:lstStyle/>
          <a:p>
            <a:pPr marL="514350" indent="-514350">
              <a:lnSpc>
                <a:spcPct val="134000"/>
              </a:lnSpc>
              <a:spcBef>
                <a:spcPts val="600"/>
              </a:spcBef>
              <a:buAutoNum type="arabicPeriod"/>
            </a:pPr>
            <a:r>
              <a:rPr lang="ru-RU" dirty="0" smtClean="0">
                <a:latin typeface="Times New Roman" panose="02020603050405020304" pitchFamily="18" charset="0"/>
                <a:cs typeface="Times New Roman" panose="02020603050405020304" pitchFamily="18" charset="0"/>
              </a:rPr>
              <a:t>Визуализация. </a:t>
            </a:r>
            <a:endParaRPr lang="en-US" dirty="0" smtClean="0">
              <a:latin typeface="Times New Roman" panose="02020603050405020304" pitchFamily="18" charset="0"/>
              <a:cs typeface="Times New Roman" panose="02020603050405020304" pitchFamily="18" charset="0"/>
            </a:endParaRPr>
          </a:p>
          <a:p>
            <a:pPr marL="0" indent="0">
              <a:lnSpc>
                <a:spcPct val="134000"/>
              </a:lnSpc>
              <a:spcBef>
                <a:spcPts val="600"/>
              </a:spcBef>
              <a:buNone/>
            </a:pPr>
            <a:r>
              <a:rPr lang="ru-RU" dirty="0" smtClean="0">
                <a:latin typeface="Times New Roman" panose="02020603050405020304" pitchFamily="18" charset="0"/>
                <a:cs typeface="Times New Roman" panose="02020603050405020304" pitchFamily="18" charset="0"/>
              </a:rPr>
              <a:t>Данные одномерные, поэтому –</a:t>
            </a:r>
            <a:r>
              <a:rPr lang="en-US" dirty="0" smtClean="0">
                <a:latin typeface="Times New Roman" panose="02020603050405020304" pitchFamily="18" charset="0"/>
                <a:cs typeface="Times New Roman" panose="02020603050405020304" pitchFamily="18" charset="0"/>
              </a:rPr>
              <a:t> </a:t>
            </a:r>
            <a:r>
              <a:rPr lang="ru-RU" smtClean="0">
                <a:latin typeface="Times New Roman" panose="02020603050405020304" pitchFamily="18" charset="0"/>
                <a:cs typeface="Times New Roman" panose="02020603050405020304" pitchFamily="18" charset="0"/>
              </a:rPr>
              <a:t>построение гистограммы - диаграммы </a:t>
            </a:r>
            <a:r>
              <a:rPr lang="ru-RU" dirty="0" smtClean="0">
                <a:latin typeface="Times New Roman" panose="02020603050405020304" pitchFamily="18" charset="0"/>
                <a:cs typeface="Times New Roman" panose="02020603050405020304" pitchFamily="18" charset="0"/>
              </a:rPr>
              <a:t>распределения (видна будет асимметрия – длинный левый хвост, поэтому в качестве типичного среднего берем –медиану).</a:t>
            </a:r>
          </a:p>
          <a:p>
            <a:pPr marL="0" indent="0">
              <a:lnSpc>
                <a:spcPct val="134000"/>
              </a:lnSpc>
              <a:spcBef>
                <a:spcPts val="600"/>
              </a:spcBef>
              <a:buNone/>
            </a:pPr>
            <a:r>
              <a:rPr lang="ru-RU" dirty="0" smtClean="0">
                <a:latin typeface="Times New Roman" panose="02020603050405020304" pitchFamily="18" charset="0"/>
                <a:cs typeface="Times New Roman" panose="02020603050405020304" pitchFamily="18" charset="0"/>
              </a:rPr>
              <a:t>2. Описательные статистики.</a:t>
            </a:r>
          </a:p>
          <a:p>
            <a:pPr marL="0" indent="0">
              <a:lnSpc>
                <a:spcPct val="134000"/>
              </a:lnSpc>
              <a:spcBef>
                <a:spcPts val="600"/>
              </a:spcBef>
              <a:buNone/>
            </a:pPr>
            <a:r>
              <a:rPr lang="ru-RU" dirty="0" smtClean="0">
                <a:latin typeface="Times New Roman" panose="02020603050405020304" pitchFamily="18" charset="0"/>
                <a:cs typeface="Times New Roman" panose="02020603050405020304" pitchFamily="18" charset="0"/>
              </a:rPr>
              <a:t>Вычислить описательные статистики, подтверждающие диаграмму распределения.</a:t>
            </a:r>
          </a:p>
          <a:p>
            <a:pPr marL="0" indent="0">
              <a:lnSpc>
                <a:spcPct val="134000"/>
              </a:lnSpc>
              <a:spcBef>
                <a:spcPts val="600"/>
              </a:spcBef>
              <a:buNone/>
            </a:pPr>
            <a:r>
              <a:rPr lang="ru-RU" dirty="0" smtClean="0">
                <a:latin typeface="Times New Roman" panose="02020603050405020304" pitchFamily="18" charset="0"/>
                <a:cs typeface="Times New Roman" panose="02020603050405020304" pitchFamily="18" charset="0"/>
              </a:rPr>
              <a:t>3. Вычислить интервальную оценку, характеризующую ситуацию с доходами на книжном рынке (разумно взять </a:t>
            </a:r>
            <a:r>
              <a:rPr lang="ru-RU" dirty="0" err="1" smtClean="0">
                <a:latin typeface="Times New Roman" panose="02020603050405020304" pitchFamily="18" charset="0"/>
                <a:cs typeface="Times New Roman" panose="02020603050405020304" pitchFamily="18" charset="0"/>
              </a:rPr>
              <a:t>межквартильный</a:t>
            </a:r>
            <a:r>
              <a:rPr lang="ru-RU" dirty="0" smtClean="0">
                <a:latin typeface="Times New Roman" panose="02020603050405020304" pitchFamily="18" charset="0"/>
                <a:cs typeface="Times New Roman" panose="02020603050405020304" pitchFamily="18" charset="0"/>
              </a:rPr>
              <a:t> размах).</a:t>
            </a:r>
          </a:p>
          <a:p>
            <a:pPr marL="0" indent="0">
              <a:lnSpc>
                <a:spcPct val="134000"/>
              </a:lnSpc>
              <a:spcBef>
                <a:spcPts val="600"/>
              </a:spcBef>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4678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normAutofit/>
          </a:bodyPr>
          <a:lstStyle/>
          <a:p>
            <a:pPr marL="0" indent="0">
              <a:buNone/>
            </a:pPr>
            <a:r>
              <a:rPr lang="ru-RU" dirty="0" smtClean="0">
                <a:latin typeface="Times New Roman" panose="02020603050405020304" pitchFamily="18" charset="0"/>
                <a:cs typeface="Times New Roman" panose="02020603050405020304" pitchFamily="18" charset="0"/>
              </a:rPr>
              <a:t>4. Построить график, на котором асимметрия хорошо видна (ящик с усами)</a:t>
            </a:r>
            <a:r>
              <a:rPr lang="ru-RU" dirty="0">
                <a:latin typeface="Times New Roman" panose="02020603050405020304" pitchFamily="18" charset="0"/>
                <a:cs typeface="Times New Roman" panose="02020603050405020304" pitchFamily="18" charset="0"/>
              </a:rPr>
              <a:t>.</a:t>
            </a:r>
            <a:endParaRPr lang="ru-RU" dirty="0" smtClean="0">
              <a:latin typeface="Times New Roman" panose="02020603050405020304" pitchFamily="18" charset="0"/>
              <a:cs typeface="Times New Roman" panose="02020603050405020304" pitchFamily="18" charset="0"/>
            </a:endParaRPr>
          </a:p>
          <a:p>
            <a:pPr marL="0" indent="0">
              <a:buNone/>
            </a:pPr>
            <a:r>
              <a:rPr lang="ru-RU" dirty="0" smtClean="0">
                <a:latin typeface="Times New Roman" panose="02020603050405020304" pitchFamily="18" charset="0"/>
                <a:cs typeface="Times New Roman" panose="02020603050405020304" pitchFamily="18" charset="0"/>
              </a:rPr>
              <a:t>5. Наличие асимметрии показывает, что есть фактор, который имеет исключительное влияние на значение исследуемой переменной (выбросы). Их убрать? Да, если это возможно из контекста задачи, но здесь мало наблюдений, поэтому лучше не убирать.</a:t>
            </a:r>
          </a:p>
          <a:p>
            <a:pPr marL="0" indent="0">
              <a:buNone/>
            </a:pPr>
            <a:r>
              <a:rPr lang="ru-RU" dirty="0" smtClean="0">
                <a:latin typeface="Times New Roman" panose="02020603050405020304" pitchFamily="18" charset="0"/>
                <a:cs typeface="Times New Roman" panose="02020603050405020304" pitchFamily="18" charset="0"/>
              </a:rPr>
              <a:t>6. Собрать дополнительную информацию о рынке в целом и нетипичных издательствах.</a:t>
            </a:r>
          </a:p>
          <a:p>
            <a:pPr marL="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4165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Правильный вывод – основа для отчета</a:t>
            </a:r>
            <a:endParaRPr lang="ru-RU" dirty="0"/>
          </a:p>
        </p:txBody>
      </p:sp>
      <p:sp>
        <p:nvSpPr>
          <p:cNvPr id="3" name="Объект 2"/>
          <p:cNvSpPr>
            <a:spLocks noGrp="1"/>
          </p:cNvSpPr>
          <p:nvPr>
            <p:ph idx="1"/>
          </p:nvPr>
        </p:nvSpPr>
        <p:spPr/>
        <p:txBody>
          <a:bodyPr/>
          <a:lstStyle/>
          <a:p>
            <a:pPr marL="0" indent="0">
              <a:lnSpc>
                <a:spcPct val="150000"/>
              </a:lnSpc>
              <a:buNone/>
            </a:pPr>
            <a:r>
              <a:rPr lang="ru-RU" dirty="0" smtClean="0">
                <a:latin typeface="Times New Roman" panose="02020603050405020304" pitchFamily="18" charset="0"/>
                <a:cs typeface="Times New Roman" panose="02020603050405020304" pitchFamily="18" charset="0"/>
              </a:rPr>
              <a:t>Рынок литературы для студентов находится на подъеме. </a:t>
            </a:r>
          </a:p>
          <a:p>
            <a:pPr marL="0" indent="0">
              <a:lnSpc>
                <a:spcPct val="150000"/>
              </a:lnSpc>
              <a:buNone/>
            </a:pPr>
            <a:r>
              <a:rPr lang="ru-RU" dirty="0" smtClean="0">
                <a:latin typeface="Times New Roman" panose="02020603050405020304" pitchFamily="18" charset="0"/>
                <a:cs typeface="Times New Roman" panose="02020603050405020304" pitchFamily="18" charset="0"/>
              </a:rPr>
              <a:t>Средний рост доходов издательств в этом сегменте за последний год вырос на 9%, наиболее типичный рост – от  5 до 12%. </a:t>
            </a:r>
          </a:p>
          <a:p>
            <a:pPr marL="0" indent="0">
              <a:lnSpc>
                <a:spcPct val="150000"/>
              </a:lnSpc>
              <a:buNone/>
            </a:pPr>
            <a:r>
              <a:rPr lang="ru-RU" dirty="0" smtClean="0">
                <a:latin typeface="Times New Roman" panose="02020603050405020304" pitchFamily="18" charset="0"/>
                <a:cs typeface="Times New Roman" panose="02020603050405020304" pitchFamily="18" charset="0"/>
              </a:rPr>
              <a:t>Однако имеется небольшое число издательств (менее 10%), которые испытывают определенные финансовые затруднения </a:t>
            </a:r>
          </a:p>
          <a:p>
            <a:pPr marL="0" indent="0">
              <a:lnSpc>
                <a:spcPct val="150000"/>
              </a:lnSpc>
              <a:buNone/>
            </a:pPr>
            <a:r>
              <a:rPr lang="ru-RU" dirty="0" smtClean="0">
                <a:latin typeface="Times New Roman" panose="02020603050405020304" pitchFamily="18" charset="0"/>
                <a:cs typeface="Times New Roman" panose="02020603050405020304" pitchFamily="18" charset="0"/>
              </a:rPr>
              <a:t>(такие, как Треугольник, Рубеж).</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513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latin typeface="Times New Roman" panose="02020603050405020304" pitchFamily="18" charset="0"/>
                <a:cs typeface="Times New Roman" panose="02020603050405020304" pitchFamily="18" charset="0"/>
              </a:rPr>
              <a:t>Структура отчета</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normAutofit/>
          </a:bodyPr>
          <a:lstStyle/>
          <a:p>
            <a:r>
              <a:rPr lang="ru-RU" sz="3600" dirty="0">
                <a:latin typeface="Times New Roman" panose="02020603050405020304" pitchFamily="18" charset="0"/>
                <a:cs typeface="Times New Roman" panose="02020603050405020304" pitchFamily="18" charset="0"/>
              </a:rPr>
              <a:t>Формулировка целей исследования</a:t>
            </a:r>
          </a:p>
          <a:p>
            <a:r>
              <a:rPr lang="ru-RU" sz="3600" dirty="0" smtClean="0">
                <a:latin typeface="Times New Roman" panose="02020603050405020304" pitchFamily="18" charset="0"/>
                <a:cs typeface="Times New Roman" panose="02020603050405020304" pitchFamily="18" charset="0"/>
              </a:rPr>
              <a:t>Описание данных</a:t>
            </a:r>
          </a:p>
          <a:p>
            <a:r>
              <a:rPr lang="ru-RU" sz="3600" dirty="0" smtClean="0">
                <a:latin typeface="Times New Roman" panose="02020603050405020304" pitchFamily="18" charset="0"/>
                <a:cs typeface="Times New Roman" panose="02020603050405020304" pitchFamily="18" charset="0"/>
              </a:rPr>
              <a:t>Обоснование и применение методов исследования</a:t>
            </a:r>
          </a:p>
          <a:p>
            <a:r>
              <a:rPr lang="ru-RU" sz="3600" dirty="0" smtClean="0">
                <a:latin typeface="Times New Roman" panose="02020603050405020304" pitchFamily="18" charset="0"/>
                <a:cs typeface="Times New Roman" panose="02020603050405020304" pitchFamily="18" charset="0"/>
              </a:rPr>
              <a:t>Описание полученных результатов и их интерпретация</a:t>
            </a:r>
            <a:endParaRPr lang="ru-RU"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53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Описание данных</a:t>
            </a:r>
          </a:p>
        </p:txBody>
      </p:sp>
      <p:sp>
        <p:nvSpPr>
          <p:cNvPr id="3" name="Объект 2"/>
          <p:cNvSpPr>
            <a:spLocks noGrp="1"/>
          </p:cNvSpPr>
          <p:nvPr>
            <p:ph idx="1"/>
          </p:nvPr>
        </p:nvSpPr>
        <p:spPr/>
        <p:txBody>
          <a:bodyPr>
            <a:normAutofit/>
          </a:bodyPr>
          <a:lstStyle/>
          <a:p>
            <a:r>
              <a:rPr lang="ru-RU" sz="3200" dirty="0" smtClean="0">
                <a:latin typeface="Times New Roman" panose="02020603050405020304" pitchFamily="18" charset="0"/>
                <a:cs typeface="Times New Roman" panose="02020603050405020304" pitchFamily="18" charset="0"/>
              </a:rPr>
              <a:t>Сколько наблюдений, сколько переменных;</a:t>
            </a:r>
          </a:p>
          <a:p>
            <a:r>
              <a:rPr lang="ru-RU" sz="3200" dirty="0" smtClean="0">
                <a:latin typeface="Times New Roman" panose="02020603050405020304" pitchFamily="18" charset="0"/>
                <a:cs typeface="Times New Roman" panose="02020603050405020304" pitchFamily="18" charset="0"/>
              </a:rPr>
              <a:t>Характер распределения значений исследуемой переменной (аналитические и графические процедуры);</a:t>
            </a:r>
          </a:p>
          <a:p>
            <a:r>
              <a:rPr lang="ru-RU" sz="3200" dirty="0" smtClean="0">
                <a:latin typeface="Times New Roman" panose="02020603050405020304" pitchFamily="18" charset="0"/>
                <a:cs typeface="Times New Roman" panose="02020603050405020304" pitchFamily="18" charset="0"/>
              </a:rPr>
              <a:t>Тип данных – определяет правильность дальнейшего анализа.</a:t>
            </a:r>
          </a:p>
          <a:p>
            <a:pPr marL="0" indent="0">
              <a:buNone/>
            </a:pPr>
            <a:endParaRPr lang="ru-RU" sz="3200" dirty="0" smtClean="0">
              <a:latin typeface="Times New Roman" panose="02020603050405020304" pitchFamily="18" charset="0"/>
              <a:cs typeface="Times New Roman" panose="02020603050405020304" pitchFamily="18" charset="0"/>
            </a:endParaRPr>
          </a:p>
          <a:p>
            <a:endParaRPr lang="ru-RU"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6583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3183" y="191670"/>
            <a:ext cx="11848563" cy="1325563"/>
          </a:xfrm>
        </p:spPr>
        <p:txBody>
          <a:bodyPr/>
          <a:lstStyle/>
          <a:p>
            <a:pPr algn="ctr"/>
            <a:r>
              <a:rPr lang="ru-RU" dirty="0">
                <a:latin typeface="Times New Roman" panose="02020603050405020304" pitchFamily="18" charset="0"/>
                <a:cs typeface="Times New Roman" panose="02020603050405020304" pitchFamily="18" charset="0"/>
              </a:rPr>
              <a:t>Обоснование и применение методов исследования</a:t>
            </a:r>
          </a:p>
        </p:txBody>
      </p:sp>
      <p:sp>
        <p:nvSpPr>
          <p:cNvPr id="3" name="Объект 2"/>
          <p:cNvSpPr>
            <a:spLocks noGrp="1"/>
          </p:cNvSpPr>
          <p:nvPr>
            <p:ph idx="1"/>
          </p:nvPr>
        </p:nvSpPr>
        <p:spPr>
          <a:xfrm>
            <a:off x="193183" y="1416676"/>
            <a:ext cx="11848563" cy="5441323"/>
          </a:xfrm>
        </p:spPr>
        <p:txBody>
          <a:bodyPr>
            <a:normAutofit/>
          </a:bodyPr>
          <a:lstStyle/>
          <a:p>
            <a:pPr marL="0" indent="0">
              <a:buNone/>
            </a:pPr>
            <a:endParaRPr lang="ru-RU" sz="3200" dirty="0">
              <a:latin typeface="Times New Roman" panose="02020603050405020304" pitchFamily="18" charset="0"/>
              <a:cs typeface="Times New Roman" panose="02020603050405020304" pitchFamily="18" charset="0"/>
            </a:endParaRPr>
          </a:p>
        </p:txBody>
      </p:sp>
      <p:sp>
        <p:nvSpPr>
          <p:cNvPr id="6" name="Прямоугольник 5"/>
          <p:cNvSpPr/>
          <p:nvPr/>
        </p:nvSpPr>
        <p:spPr>
          <a:xfrm>
            <a:off x="3915177" y="1918952"/>
            <a:ext cx="2949262" cy="785611"/>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Тип переменной</a:t>
            </a:r>
            <a:endParaRPr lang="ru-RU" sz="2400" dirty="0">
              <a:solidFill>
                <a:schemeClr val="tx1"/>
              </a:solidFill>
              <a:latin typeface="Times New Roman" panose="02020603050405020304" pitchFamily="18" charset="0"/>
              <a:cs typeface="Times New Roman" panose="02020603050405020304" pitchFamily="18" charset="0"/>
            </a:endParaRPr>
          </a:p>
        </p:txBody>
      </p:sp>
      <p:cxnSp>
        <p:nvCxnSpPr>
          <p:cNvPr id="8" name="Прямая соединительная линия 7"/>
          <p:cNvCxnSpPr/>
          <p:nvPr/>
        </p:nvCxnSpPr>
        <p:spPr>
          <a:xfrm>
            <a:off x="5370490" y="2717442"/>
            <a:ext cx="19318" cy="516263"/>
          </a:xfrm>
          <a:prstGeom prst="line">
            <a:avLst/>
          </a:prstGeom>
        </p:spPr>
        <p:style>
          <a:lnRef idx="1">
            <a:schemeClr val="dk1"/>
          </a:lnRef>
          <a:fillRef idx="0">
            <a:schemeClr val="dk1"/>
          </a:fillRef>
          <a:effectRef idx="0">
            <a:schemeClr val="dk1"/>
          </a:effectRef>
          <a:fontRef idx="minor">
            <a:schemeClr val="tx1"/>
          </a:fontRef>
        </p:style>
      </p:cxnSp>
      <p:cxnSp>
        <p:nvCxnSpPr>
          <p:cNvPr id="14" name="Прямая соединительная линия 13"/>
          <p:cNvCxnSpPr/>
          <p:nvPr/>
        </p:nvCxnSpPr>
        <p:spPr>
          <a:xfrm>
            <a:off x="2756079" y="3233705"/>
            <a:ext cx="65811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p:nvPr/>
        </p:nvCxnSpPr>
        <p:spPr>
          <a:xfrm>
            <a:off x="2756079" y="3233705"/>
            <a:ext cx="0" cy="2693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p:nvPr/>
        </p:nvCxnSpPr>
        <p:spPr>
          <a:xfrm>
            <a:off x="9337183" y="3233705"/>
            <a:ext cx="0" cy="217833"/>
          </a:xfrm>
          <a:prstGeom prst="line">
            <a:avLst/>
          </a:prstGeom>
        </p:spPr>
        <p:style>
          <a:lnRef idx="1">
            <a:schemeClr val="accent1"/>
          </a:lnRef>
          <a:fillRef idx="0">
            <a:schemeClr val="accent1"/>
          </a:fillRef>
          <a:effectRef idx="0">
            <a:schemeClr val="accent1"/>
          </a:effectRef>
          <a:fontRef idx="minor">
            <a:schemeClr val="tx1"/>
          </a:fontRef>
        </p:style>
      </p:cxnSp>
      <p:sp>
        <p:nvSpPr>
          <p:cNvPr id="20" name="Прямоугольник 19"/>
          <p:cNvSpPr/>
          <p:nvPr/>
        </p:nvSpPr>
        <p:spPr>
          <a:xfrm>
            <a:off x="1687132" y="3503054"/>
            <a:ext cx="2228045" cy="49824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Номинальная</a:t>
            </a:r>
            <a:endParaRPr lang="ru-RU" sz="2400" dirty="0">
              <a:solidFill>
                <a:schemeClr val="tx1"/>
              </a:solidFill>
              <a:latin typeface="Times New Roman" panose="02020603050405020304" pitchFamily="18" charset="0"/>
              <a:cs typeface="Times New Roman" panose="02020603050405020304" pitchFamily="18" charset="0"/>
            </a:endParaRPr>
          </a:p>
        </p:txBody>
      </p:sp>
      <p:sp>
        <p:nvSpPr>
          <p:cNvPr id="21" name="Прямоугольник 20"/>
          <p:cNvSpPr/>
          <p:nvPr/>
        </p:nvSpPr>
        <p:spPr>
          <a:xfrm>
            <a:off x="7727324" y="3464417"/>
            <a:ext cx="3412901" cy="61929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Порядковая или интервальная</a:t>
            </a:r>
            <a:endParaRPr lang="ru-RU" sz="2400" dirty="0">
              <a:solidFill>
                <a:schemeClr val="tx1"/>
              </a:solidFill>
              <a:latin typeface="Times New Roman" panose="02020603050405020304" pitchFamily="18" charset="0"/>
              <a:cs typeface="Times New Roman" panose="02020603050405020304" pitchFamily="18" charset="0"/>
            </a:endParaRPr>
          </a:p>
        </p:txBody>
      </p:sp>
      <p:cxnSp>
        <p:nvCxnSpPr>
          <p:cNvPr id="23" name="Прямая соединительная линия 22"/>
          <p:cNvCxnSpPr/>
          <p:nvPr/>
        </p:nvCxnSpPr>
        <p:spPr>
          <a:xfrm flipH="1">
            <a:off x="2801154" y="4001294"/>
            <a:ext cx="2" cy="441917"/>
          </a:xfrm>
          <a:prstGeom prst="line">
            <a:avLst/>
          </a:prstGeom>
        </p:spPr>
        <p:style>
          <a:lnRef idx="1">
            <a:schemeClr val="accent1"/>
          </a:lnRef>
          <a:fillRef idx="0">
            <a:schemeClr val="accent1"/>
          </a:fillRef>
          <a:effectRef idx="0">
            <a:schemeClr val="accent1"/>
          </a:effectRef>
          <a:fontRef idx="minor">
            <a:schemeClr val="tx1"/>
          </a:fontRef>
        </p:style>
      </p:cxnSp>
      <p:sp>
        <p:nvSpPr>
          <p:cNvPr id="26" name="Прямоугольник 25"/>
          <p:cNvSpPr/>
          <p:nvPr/>
        </p:nvSpPr>
        <p:spPr>
          <a:xfrm>
            <a:off x="1120462" y="4340180"/>
            <a:ext cx="2794716" cy="70833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Таблица частот и круговая диаграмма</a:t>
            </a:r>
            <a:endParaRPr lang="ru-RU" sz="2400" dirty="0">
              <a:solidFill>
                <a:schemeClr val="tx1"/>
              </a:solidFill>
              <a:latin typeface="Times New Roman" panose="02020603050405020304" pitchFamily="18" charset="0"/>
              <a:cs typeface="Times New Roman" panose="02020603050405020304" pitchFamily="18" charset="0"/>
            </a:endParaRPr>
          </a:p>
        </p:txBody>
      </p:sp>
      <p:cxnSp>
        <p:nvCxnSpPr>
          <p:cNvPr id="28" name="Прямая соединительная линия 27"/>
          <p:cNvCxnSpPr/>
          <p:nvPr/>
        </p:nvCxnSpPr>
        <p:spPr>
          <a:xfrm>
            <a:off x="9427335" y="4001294"/>
            <a:ext cx="25758" cy="3002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p:cNvCxnSpPr/>
          <p:nvPr/>
        </p:nvCxnSpPr>
        <p:spPr>
          <a:xfrm>
            <a:off x="8332631" y="4340180"/>
            <a:ext cx="20219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p:cNvCxnSpPr/>
          <p:nvPr/>
        </p:nvCxnSpPr>
        <p:spPr>
          <a:xfrm>
            <a:off x="10341735" y="4301544"/>
            <a:ext cx="12879" cy="182832"/>
          </a:xfrm>
          <a:prstGeom prst="line">
            <a:avLst/>
          </a:prstGeom>
        </p:spPr>
        <p:style>
          <a:lnRef idx="1">
            <a:schemeClr val="accent1"/>
          </a:lnRef>
          <a:fillRef idx="0">
            <a:schemeClr val="accent1"/>
          </a:fillRef>
          <a:effectRef idx="0">
            <a:schemeClr val="accent1"/>
          </a:effectRef>
          <a:fontRef idx="minor">
            <a:schemeClr val="tx1"/>
          </a:fontRef>
        </p:style>
      </p:cxnSp>
      <p:sp>
        <p:nvSpPr>
          <p:cNvPr id="33" name="Прямоугольник 32"/>
          <p:cNvSpPr/>
          <p:nvPr/>
        </p:nvSpPr>
        <p:spPr>
          <a:xfrm>
            <a:off x="9994006" y="4484376"/>
            <a:ext cx="1777284" cy="82061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Таблица частот</a:t>
            </a:r>
            <a:endParaRPr lang="ru-RU" sz="2400" dirty="0">
              <a:solidFill>
                <a:schemeClr val="tx1"/>
              </a:solidFill>
              <a:latin typeface="Times New Roman" panose="02020603050405020304" pitchFamily="18" charset="0"/>
              <a:cs typeface="Times New Roman" panose="02020603050405020304" pitchFamily="18" charset="0"/>
            </a:endParaRPr>
          </a:p>
        </p:txBody>
      </p:sp>
      <p:cxnSp>
        <p:nvCxnSpPr>
          <p:cNvPr id="35" name="Прямая соединительная линия 34"/>
          <p:cNvCxnSpPr/>
          <p:nvPr/>
        </p:nvCxnSpPr>
        <p:spPr>
          <a:xfrm>
            <a:off x="8332631" y="4340180"/>
            <a:ext cx="0" cy="182832"/>
          </a:xfrm>
          <a:prstGeom prst="line">
            <a:avLst/>
          </a:prstGeom>
        </p:spPr>
        <p:style>
          <a:lnRef idx="1">
            <a:schemeClr val="accent1"/>
          </a:lnRef>
          <a:fillRef idx="0">
            <a:schemeClr val="accent1"/>
          </a:fillRef>
          <a:effectRef idx="0">
            <a:schemeClr val="accent1"/>
          </a:effectRef>
          <a:fontRef idx="minor">
            <a:schemeClr val="tx1"/>
          </a:fontRef>
        </p:style>
      </p:cxnSp>
      <p:sp>
        <p:nvSpPr>
          <p:cNvPr id="36" name="Прямоугольник 35"/>
          <p:cNvSpPr/>
          <p:nvPr/>
        </p:nvSpPr>
        <p:spPr>
          <a:xfrm>
            <a:off x="6993228" y="4484376"/>
            <a:ext cx="2253804" cy="82061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Гистограмма, «ящик с усами»</a:t>
            </a:r>
            <a:endParaRPr lang="ru-RU" sz="2400" dirty="0">
              <a:solidFill>
                <a:schemeClr val="tx1"/>
              </a:solidFill>
              <a:latin typeface="Times New Roman" panose="02020603050405020304" pitchFamily="18" charset="0"/>
              <a:cs typeface="Times New Roman" panose="02020603050405020304" pitchFamily="18" charset="0"/>
            </a:endParaRPr>
          </a:p>
        </p:txBody>
      </p:sp>
      <p:cxnSp>
        <p:nvCxnSpPr>
          <p:cNvPr id="38" name="Прямая соединительная линия 37"/>
          <p:cNvCxnSpPr/>
          <p:nvPr/>
        </p:nvCxnSpPr>
        <p:spPr>
          <a:xfrm flipH="1">
            <a:off x="8049295" y="5048518"/>
            <a:ext cx="2" cy="1004552"/>
          </a:xfrm>
          <a:prstGeom prst="line">
            <a:avLst/>
          </a:prstGeom>
        </p:spPr>
        <p:style>
          <a:lnRef idx="1">
            <a:schemeClr val="accent1"/>
          </a:lnRef>
          <a:fillRef idx="0">
            <a:schemeClr val="accent1"/>
          </a:fillRef>
          <a:effectRef idx="0">
            <a:schemeClr val="accent1"/>
          </a:effectRef>
          <a:fontRef idx="minor">
            <a:schemeClr val="tx1"/>
          </a:fontRef>
        </p:style>
      </p:cxnSp>
      <p:sp>
        <p:nvSpPr>
          <p:cNvPr id="42" name="Прямоугольник 41"/>
          <p:cNvSpPr/>
          <p:nvPr/>
        </p:nvSpPr>
        <p:spPr>
          <a:xfrm>
            <a:off x="7392473" y="5857440"/>
            <a:ext cx="2279561" cy="78063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Дескриптивная статистика</a:t>
            </a:r>
            <a:endParaRPr lang="ru-RU" sz="2400" dirty="0">
              <a:solidFill>
                <a:schemeClr val="tx1"/>
              </a:solidFill>
              <a:latin typeface="Times New Roman" panose="02020603050405020304" pitchFamily="18" charset="0"/>
              <a:cs typeface="Times New Roman" panose="02020603050405020304" pitchFamily="18" charset="0"/>
            </a:endParaRPr>
          </a:p>
        </p:txBody>
      </p:sp>
      <p:cxnSp>
        <p:nvCxnSpPr>
          <p:cNvPr id="47" name="Прямая соединительная линия 46"/>
          <p:cNvCxnSpPr/>
          <p:nvPr/>
        </p:nvCxnSpPr>
        <p:spPr>
          <a:xfrm flipH="1">
            <a:off x="6606860" y="5531600"/>
            <a:ext cx="1442435"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Прямоугольник 47"/>
          <p:cNvSpPr/>
          <p:nvPr/>
        </p:nvSpPr>
        <p:spPr>
          <a:xfrm>
            <a:off x="4056847" y="5228821"/>
            <a:ext cx="2704564" cy="109470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solidFill>
                  <a:schemeClr val="tx1"/>
                </a:solidFill>
                <a:latin typeface="Times New Roman" panose="02020603050405020304" pitchFamily="18" charset="0"/>
                <a:cs typeface="Times New Roman" panose="02020603050405020304" pitchFamily="18" charset="0"/>
              </a:rPr>
              <a:t>Проверка нормальности распределения</a:t>
            </a:r>
            <a:endParaRPr lang="ru-RU"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3362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latin typeface="Times New Roman" panose="02020603050405020304" pitchFamily="18" charset="0"/>
                <a:cs typeface="Times New Roman" panose="02020603050405020304" pitchFamily="18" charset="0"/>
              </a:rPr>
              <a:t>Обоснование и применение методов исследования</a:t>
            </a:r>
            <a:endParaRPr lang="ru-RU" dirty="0"/>
          </a:p>
        </p:txBody>
      </p:sp>
      <p:sp>
        <p:nvSpPr>
          <p:cNvPr id="3" name="Объект 2"/>
          <p:cNvSpPr>
            <a:spLocks noGrp="1"/>
          </p:cNvSpPr>
          <p:nvPr>
            <p:ph idx="1"/>
          </p:nvPr>
        </p:nvSpPr>
        <p:spPr>
          <a:xfrm>
            <a:off x="655092" y="1690688"/>
            <a:ext cx="11341289" cy="5167312"/>
          </a:xfrm>
        </p:spPr>
        <p:txBody>
          <a:bodyPr>
            <a:normAutofit fontScale="85000" lnSpcReduction="10000"/>
          </a:bodyPr>
          <a:lstStyle/>
          <a:p>
            <a:pPr>
              <a:lnSpc>
                <a:spcPct val="120000"/>
              </a:lnSpc>
            </a:pPr>
            <a:r>
              <a:rPr lang="ru-RU" dirty="0" smtClean="0">
                <a:latin typeface="Times New Roman" panose="02020603050405020304" pitchFamily="18" charset="0"/>
                <a:cs typeface="Times New Roman" panose="02020603050405020304" pitchFamily="18" charset="0"/>
              </a:rPr>
              <a:t>Если гистограмма распределения показывает примерно нормальное распределение, то можно вычислять типичные средние значения переменной и меры разброса вокруг типичного (среднего) значения. Надо начинать с асимметрии, является надежным ориентиром для определения типичной средней.</a:t>
            </a:r>
          </a:p>
          <a:p>
            <a:pPr>
              <a:lnSpc>
                <a:spcPct val="120000"/>
              </a:lnSpc>
            </a:pPr>
            <a:r>
              <a:rPr lang="ru-RU" dirty="0" smtClean="0">
                <a:latin typeface="Times New Roman" panose="02020603050405020304" pitchFamily="18" charset="0"/>
                <a:cs typeface="Times New Roman" panose="02020603050405020304" pitchFamily="18" charset="0"/>
              </a:rPr>
              <a:t>Если асимметрия незначительная, то в качестве средней брать среднюю арифметическую и мерой разброса брать дисперсию и стандартное отклонение.</a:t>
            </a:r>
          </a:p>
          <a:p>
            <a:pPr>
              <a:lnSpc>
                <a:spcPct val="120000"/>
              </a:lnSpc>
            </a:pPr>
            <a:r>
              <a:rPr lang="ru-RU" dirty="0" smtClean="0">
                <a:latin typeface="Times New Roman" panose="02020603050405020304" pitchFamily="18" charset="0"/>
                <a:cs typeface="Times New Roman" panose="02020603050405020304" pitchFamily="18" charset="0"/>
              </a:rPr>
              <a:t>Если асимметрия велика, то в качестве средней брать медиану, а для меры разброса выбрать квартили, децили или что-то подобное. </a:t>
            </a:r>
            <a:endParaRPr lang="ru-RU" dirty="0">
              <a:latin typeface="Times New Roman" panose="02020603050405020304" pitchFamily="18" charset="0"/>
              <a:cs typeface="Times New Roman" panose="02020603050405020304" pitchFamily="18" charset="0"/>
            </a:endParaRPr>
          </a:p>
          <a:p>
            <a:pPr>
              <a:lnSpc>
                <a:spcPct val="120000"/>
              </a:lnSpc>
            </a:pPr>
            <a:r>
              <a:rPr lang="ru-RU" dirty="0" smtClean="0">
                <a:latin typeface="Times New Roman" panose="02020603050405020304" pitchFamily="18" charset="0"/>
                <a:cs typeface="Times New Roman" panose="02020603050405020304" pitchFamily="18" charset="0"/>
              </a:rPr>
              <a:t>Если большой эксцесс, то стандартное отклонение и правила 2 и 3 сигма неадекватно отражают разброс (рассеяние) данных вокруг среднего значения. </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0162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latin typeface="Times New Roman" panose="02020603050405020304" pitchFamily="18" charset="0"/>
                <a:cs typeface="Times New Roman" panose="02020603050405020304" pitchFamily="18" charset="0"/>
              </a:rPr>
              <a:t>Обоснование и применение методов исследования</a:t>
            </a:r>
            <a:endParaRPr lang="ru-RU" dirty="0"/>
          </a:p>
        </p:txBody>
      </p:sp>
      <p:sp>
        <p:nvSpPr>
          <p:cNvPr id="3" name="Объект 2"/>
          <p:cNvSpPr>
            <a:spLocks noGrp="1"/>
          </p:cNvSpPr>
          <p:nvPr>
            <p:ph idx="1"/>
          </p:nvPr>
        </p:nvSpPr>
        <p:spPr/>
        <p:txBody>
          <a:bodyPr/>
          <a:lstStyle/>
          <a:p>
            <a:pPr>
              <a:lnSpc>
                <a:spcPct val="150000"/>
              </a:lnSpc>
            </a:pPr>
            <a:r>
              <a:rPr lang="ru-RU" dirty="0" smtClean="0">
                <a:latin typeface="Times New Roman" panose="02020603050405020304" pitchFamily="18" charset="0"/>
                <a:cs typeface="Times New Roman" panose="02020603050405020304" pitchFamily="18" charset="0"/>
              </a:rPr>
              <a:t>Если переменных больше 1, то можно искать зависимости между ними. При этом необходимо понимать тип переменной, от этого зависит метод отыскания зависимостей.</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461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sz="3600" dirty="0" smtClean="0">
                <a:latin typeface="Times New Roman" panose="02020603050405020304" pitchFamily="18" charset="0"/>
                <a:cs typeface="Times New Roman" panose="02020603050405020304" pitchFamily="18" charset="0"/>
              </a:rPr>
              <a:t>Способы обнаружения связи между переменными в зависимости от типов переменных</a:t>
            </a:r>
            <a:endParaRPr lang="ru-RU" sz="3600" dirty="0">
              <a:latin typeface="Times New Roman" panose="02020603050405020304" pitchFamily="18" charset="0"/>
              <a:cs typeface="Times New Roman" panose="02020603050405020304" pitchFamily="18" charset="0"/>
            </a:endParaRPr>
          </a:p>
        </p:txBody>
      </p:sp>
      <p:graphicFrame>
        <p:nvGraphicFramePr>
          <p:cNvPr id="4" name="Объект 3"/>
          <p:cNvGraphicFramePr>
            <a:graphicFrameLocks noGrp="1"/>
          </p:cNvGraphicFramePr>
          <p:nvPr>
            <p:ph idx="1"/>
            <p:extLst>
              <p:ext uri="{D42A27DB-BD31-4B8C-83A1-F6EECF244321}">
                <p14:modId xmlns:p14="http://schemas.microsoft.com/office/powerpoint/2010/main" val="4253616543"/>
              </p:ext>
            </p:extLst>
          </p:nvPr>
        </p:nvGraphicFramePr>
        <p:xfrm>
          <a:off x="838200" y="1690688"/>
          <a:ext cx="10515600" cy="51206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766979945"/>
                    </a:ext>
                  </a:extLst>
                </a:gridCol>
                <a:gridCol w="2628900">
                  <a:extLst>
                    <a:ext uri="{9D8B030D-6E8A-4147-A177-3AD203B41FA5}">
                      <a16:colId xmlns:a16="http://schemas.microsoft.com/office/drawing/2014/main" val="2534744323"/>
                    </a:ext>
                  </a:extLst>
                </a:gridCol>
                <a:gridCol w="2628900">
                  <a:extLst>
                    <a:ext uri="{9D8B030D-6E8A-4147-A177-3AD203B41FA5}">
                      <a16:colId xmlns:a16="http://schemas.microsoft.com/office/drawing/2014/main" val="579604594"/>
                    </a:ext>
                  </a:extLst>
                </a:gridCol>
                <a:gridCol w="2628900">
                  <a:extLst>
                    <a:ext uri="{9D8B030D-6E8A-4147-A177-3AD203B41FA5}">
                      <a16:colId xmlns:a16="http://schemas.microsoft.com/office/drawing/2014/main" val="3459582578"/>
                    </a:ext>
                  </a:extLst>
                </a:gridCol>
              </a:tblGrid>
              <a:tr h="370840">
                <a:tc>
                  <a:txBody>
                    <a:bodyPr/>
                    <a:lstStyle/>
                    <a:p>
                      <a:r>
                        <a:rPr lang="ru-RU" sz="2400" dirty="0" smtClean="0">
                          <a:solidFill>
                            <a:schemeClr val="tx1"/>
                          </a:solidFill>
                          <a:latin typeface="Times New Roman" panose="02020603050405020304" pitchFamily="18" charset="0"/>
                          <a:cs typeface="Times New Roman" panose="02020603050405020304" pitchFamily="18" charset="0"/>
                        </a:rPr>
                        <a:t>Переменная</a:t>
                      </a:r>
                      <a:endParaRPr lang="ru-RU" sz="24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ru-RU" sz="2400" dirty="0" smtClean="0">
                          <a:solidFill>
                            <a:schemeClr val="tx1"/>
                          </a:solidFill>
                          <a:latin typeface="Times New Roman" panose="02020603050405020304" pitchFamily="18" charset="0"/>
                          <a:cs typeface="Times New Roman" panose="02020603050405020304" pitchFamily="18" charset="0"/>
                        </a:rPr>
                        <a:t>Номинальная</a:t>
                      </a:r>
                      <a:endParaRPr lang="ru-RU" sz="24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ru-RU" sz="2400" dirty="0" smtClean="0">
                          <a:solidFill>
                            <a:schemeClr val="tx1"/>
                          </a:solidFill>
                          <a:latin typeface="Times New Roman" panose="02020603050405020304" pitchFamily="18" charset="0"/>
                          <a:cs typeface="Times New Roman" panose="02020603050405020304" pitchFamily="18" charset="0"/>
                        </a:rPr>
                        <a:t>Порядковая</a:t>
                      </a:r>
                      <a:endParaRPr lang="ru-RU" sz="24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r>
                        <a:rPr lang="ru-RU" sz="2400" dirty="0" smtClean="0">
                          <a:solidFill>
                            <a:schemeClr val="tx1"/>
                          </a:solidFill>
                          <a:latin typeface="Times New Roman" panose="02020603050405020304" pitchFamily="18" charset="0"/>
                          <a:cs typeface="Times New Roman" panose="02020603050405020304" pitchFamily="18" charset="0"/>
                        </a:rPr>
                        <a:t>Интервальная</a:t>
                      </a:r>
                      <a:endParaRPr lang="ru-RU" sz="2400" dirty="0">
                        <a:solidFill>
                          <a:schemeClr val="tx1"/>
                        </a:solidFill>
                        <a:latin typeface="Times New Roman" panose="02020603050405020304" pitchFamily="18" charset="0"/>
                        <a:cs typeface="Times New Roman" panose="02020603050405020304" pitchFamily="18" charset="0"/>
                      </a:endParaRPr>
                    </a:p>
                  </a:txBody>
                  <a:tcPr>
                    <a:solidFill>
                      <a:schemeClr val="bg2"/>
                    </a:solidFill>
                  </a:tcPr>
                </a:tc>
                <a:extLst>
                  <a:ext uri="{0D108BD9-81ED-4DB2-BD59-A6C34878D82A}">
                    <a16:rowId xmlns:a16="http://schemas.microsoft.com/office/drawing/2014/main" val="2978412466"/>
                  </a:ext>
                </a:extLst>
              </a:tr>
              <a:tr h="370840">
                <a:tc>
                  <a:txBody>
                    <a:bodyPr/>
                    <a:lstStyle/>
                    <a:p>
                      <a:r>
                        <a:rPr lang="ru-RU" sz="2400" dirty="0" smtClean="0">
                          <a:latin typeface="Times New Roman" panose="02020603050405020304" pitchFamily="18" charset="0"/>
                          <a:cs typeface="Times New Roman" panose="02020603050405020304" pitchFamily="18" charset="0"/>
                        </a:rPr>
                        <a:t>Номинальная</a:t>
                      </a:r>
                      <a:endParaRPr lang="ru-RU" sz="2400" dirty="0">
                        <a:latin typeface="Times New Roman" panose="02020603050405020304" pitchFamily="18" charset="0"/>
                        <a:cs typeface="Times New Roman" panose="02020603050405020304" pitchFamily="18" charset="0"/>
                      </a:endParaRPr>
                    </a:p>
                  </a:txBody>
                  <a:tcPr/>
                </a:tc>
                <a:tc>
                  <a:txBody>
                    <a:bodyPr/>
                    <a:lstStyle/>
                    <a:p>
                      <a:r>
                        <a:rPr lang="ru-RU" sz="2400" dirty="0" smtClean="0">
                          <a:latin typeface="Times New Roman" panose="02020603050405020304" pitchFamily="18" charset="0"/>
                          <a:cs typeface="Times New Roman" panose="02020603050405020304" pitchFamily="18" charset="0"/>
                        </a:rPr>
                        <a:t>Таблицы сопряженности, хи-квадрат</a:t>
                      </a:r>
                      <a:endParaRPr lang="ru-RU"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400" dirty="0" smtClean="0">
                          <a:latin typeface="Times New Roman" panose="02020603050405020304" pitchFamily="18" charset="0"/>
                          <a:cs typeface="Times New Roman" panose="02020603050405020304" pitchFamily="18" charset="0"/>
                        </a:rPr>
                        <a:t>Таблицы сопряженности, хи-квадрат</a:t>
                      </a:r>
                    </a:p>
                    <a:p>
                      <a:endParaRPr lang="ru-RU" sz="2400" dirty="0">
                        <a:latin typeface="Times New Roman" panose="02020603050405020304" pitchFamily="18" charset="0"/>
                        <a:cs typeface="Times New Roman" panose="02020603050405020304" pitchFamily="18" charset="0"/>
                      </a:endParaRPr>
                    </a:p>
                  </a:txBody>
                  <a:tcPr/>
                </a:tc>
                <a:tc>
                  <a:txBody>
                    <a:bodyPr/>
                    <a:lstStyle/>
                    <a:p>
                      <a:r>
                        <a:rPr lang="en-US" sz="2400" i="1" dirty="0" smtClean="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критерий, дисперсионный</a:t>
                      </a:r>
                      <a:r>
                        <a:rPr lang="ru-RU" sz="2400" baseline="0" dirty="0" smtClean="0">
                          <a:latin typeface="Times New Roman" panose="02020603050405020304" pitchFamily="18" charset="0"/>
                          <a:cs typeface="Times New Roman" panose="02020603050405020304" pitchFamily="18" charset="0"/>
                        </a:rPr>
                        <a:t> анализ</a:t>
                      </a:r>
                      <a:endParaRPr lang="ru-RU"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6062678"/>
                  </a:ext>
                </a:extLst>
              </a:tr>
              <a:tr h="370840">
                <a:tc>
                  <a:txBody>
                    <a:bodyPr/>
                    <a:lstStyle/>
                    <a:p>
                      <a:r>
                        <a:rPr lang="ru-RU" sz="2400" dirty="0" smtClean="0">
                          <a:latin typeface="Times New Roman" panose="02020603050405020304" pitchFamily="18" charset="0"/>
                          <a:cs typeface="Times New Roman" panose="02020603050405020304" pitchFamily="18" charset="0"/>
                        </a:rPr>
                        <a:t>Порядковая </a:t>
                      </a:r>
                      <a:endParaRPr lang="ru-RU" sz="2400" dirty="0">
                        <a:latin typeface="Times New Roman" panose="02020603050405020304" pitchFamily="18" charset="0"/>
                        <a:cs typeface="Times New Roman" panose="02020603050405020304" pitchFamily="18" charset="0"/>
                      </a:endParaRPr>
                    </a:p>
                  </a:txBody>
                  <a:tcPr/>
                </a:tc>
                <a:tc>
                  <a:txBody>
                    <a:bodyPr/>
                    <a:lstStyle/>
                    <a:p>
                      <a:r>
                        <a:rPr lang="ru-RU" sz="2400" dirty="0" smtClean="0">
                          <a:latin typeface="Times New Roman" panose="02020603050405020304" pitchFamily="18" charset="0"/>
                          <a:cs typeface="Times New Roman" panose="02020603050405020304" pitchFamily="18" charset="0"/>
                        </a:rPr>
                        <a:t>Таблицы сопряженности, хи-квадрат</a:t>
                      </a:r>
                      <a:endParaRPr lang="ru-RU" sz="2400" dirty="0">
                        <a:latin typeface="Times New Roman" panose="02020603050405020304" pitchFamily="18" charset="0"/>
                        <a:cs typeface="Times New Roman" panose="02020603050405020304" pitchFamily="18" charset="0"/>
                      </a:endParaRPr>
                    </a:p>
                  </a:txBody>
                  <a:tcPr/>
                </a:tc>
                <a:tc>
                  <a:txBody>
                    <a:bodyPr/>
                    <a:lstStyle/>
                    <a:p>
                      <a:r>
                        <a:rPr lang="ru-RU" sz="2400" dirty="0" smtClean="0">
                          <a:latin typeface="Times New Roman" panose="02020603050405020304" pitchFamily="18" charset="0"/>
                          <a:cs typeface="Times New Roman" panose="02020603050405020304" pitchFamily="18" charset="0"/>
                        </a:rPr>
                        <a:t>Ранговая корреляция</a:t>
                      </a:r>
                      <a:endParaRPr lang="ru-RU" sz="2400" dirty="0">
                        <a:latin typeface="Times New Roman" panose="02020603050405020304" pitchFamily="18" charset="0"/>
                        <a:cs typeface="Times New Roman" panose="02020603050405020304" pitchFamily="18" charset="0"/>
                      </a:endParaRPr>
                    </a:p>
                  </a:txBody>
                  <a:tcPr/>
                </a:tc>
                <a:tc>
                  <a:txBody>
                    <a:bodyPr/>
                    <a:lstStyle/>
                    <a:p>
                      <a:r>
                        <a:rPr lang="ru-RU" sz="2400" dirty="0" smtClean="0">
                          <a:latin typeface="Times New Roman" panose="02020603050405020304" pitchFamily="18" charset="0"/>
                          <a:cs typeface="Times New Roman" panose="02020603050405020304" pitchFamily="18" charset="0"/>
                        </a:rPr>
                        <a:t>Корреляция Пирсона, регрессия</a:t>
                      </a:r>
                      <a:endParaRPr lang="ru-RU"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321872"/>
                  </a:ext>
                </a:extLst>
              </a:tr>
              <a:tr h="370840">
                <a:tc>
                  <a:txBody>
                    <a:bodyPr/>
                    <a:lstStyle/>
                    <a:p>
                      <a:r>
                        <a:rPr lang="ru-RU" sz="2400" dirty="0" smtClean="0">
                          <a:latin typeface="Times New Roman" panose="02020603050405020304" pitchFamily="18" charset="0"/>
                          <a:cs typeface="Times New Roman" panose="02020603050405020304" pitchFamily="18" charset="0"/>
                        </a:rPr>
                        <a:t>Интервальная</a:t>
                      </a:r>
                      <a:endParaRPr lang="ru-RU"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i="1" dirty="0" smtClean="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a:t>
                      </a:r>
                      <a:r>
                        <a:rPr lang="ru-RU" sz="2400" dirty="0" smtClean="0">
                          <a:latin typeface="Times New Roman" panose="02020603050405020304" pitchFamily="18" charset="0"/>
                          <a:cs typeface="Times New Roman" panose="02020603050405020304" pitchFamily="18" charset="0"/>
                        </a:rPr>
                        <a:t>критерий, дисперсионный</a:t>
                      </a:r>
                      <a:r>
                        <a:rPr lang="ru-RU" sz="2400" baseline="0" dirty="0" smtClean="0">
                          <a:latin typeface="Times New Roman" panose="02020603050405020304" pitchFamily="18" charset="0"/>
                          <a:cs typeface="Times New Roman" panose="02020603050405020304" pitchFamily="18" charset="0"/>
                        </a:rPr>
                        <a:t> анализ</a:t>
                      </a:r>
                      <a:endParaRPr lang="ru-RU" sz="2400" dirty="0" smtClean="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400" dirty="0" smtClean="0">
                          <a:latin typeface="Times New Roman" panose="02020603050405020304" pitchFamily="18" charset="0"/>
                          <a:cs typeface="Times New Roman" panose="02020603050405020304" pitchFamily="18" charset="0"/>
                        </a:rPr>
                        <a:t>Корреляция Пирсона, регрессия</a:t>
                      </a:r>
                    </a:p>
                    <a:p>
                      <a:endParaRPr lang="ru-RU"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400" dirty="0" smtClean="0">
                          <a:latin typeface="Times New Roman" panose="02020603050405020304" pitchFamily="18" charset="0"/>
                          <a:cs typeface="Times New Roman" panose="02020603050405020304" pitchFamily="18" charset="0"/>
                        </a:rPr>
                        <a:t>Ковариация, корреляция Пирсона, регрессия</a:t>
                      </a:r>
                    </a:p>
                    <a:p>
                      <a:endParaRPr lang="ru-RU"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25621939"/>
                  </a:ext>
                </a:extLst>
              </a:tr>
            </a:tbl>
          </a:graphicData>
        </a:graphic>
      </p:graphicFrame>
    </p:spTree>
    <p:extLst>
      <p:ext uri="{BB962C8B-B14F-4D97-AF65-F5344CB8AC3E}">
        <p14:creationId xmlns:p14="http://schemas.microsoft.com/office/powerpoint/2010/main" val="1282342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ru-RU" sz="4000" dirty="0" smtClean="0">
                <a:latin typeface="Times New Roman" panose="02020603050405020304" pitchFamily="18" charset="0"/>
                <a:cs typeface="Times New Roman" panose="02020603050405020304" pitchFamily="18" charset="0"/>
              </a:rPr>
              <a:t>Условия применимости</a:t>
            </a:r>
            <a:endParaRPr lang="ru-RU" sz="4000" dirty="0">
              <a:latin typeface="Times New Roman" panose="02020603050405020304" pitchFamily="18" charset="0"/>
              <a:cs typeface="Times New Roman" panose="02020603050405020304" pitchFamily="18" charset="0"/>
            </a:endParaRPr>
          </a:p>
        </p:txBody>
      </p:sp>
      <p:graphicFrame>
        <p:nvGraphicFramePr>
          <p:cNvPr id="4" name="Объект 3"/>
          <p:cNvGraphicFramePr>
            <a:graphicFrameLocks noGrp="1"/>
          </p:cNvGraphicFramePr>
          <p:nvPr>
            <p:ph idx="1"/>
            <p:extLst>
              <p:ext uri="{D42A27DB-BD31-4B8C-83A1-F6EECF244321}">
                <p14:modId xmlns:p14="http://schemas.microsoft.com/office/powerpoint/2010/main" val="2491128829"/>
              </p:ext>
            </p:extLst>
          </p:nvPr>
        </p:nvGraphicFramePr>
        <p:xfrm>
          <a:off x="163772" y="1460310"/>
          <a:ext cx="11832610" cy="5036023"/>
        </p:xfrm>
        <a:graphic>
          <a:graphicData uri="http://schemas.openxmlformats.org/drawingml/2006/table">
            <a:tbl>
              <a:tblPr firstRow="1" bandRow="1">
                <a:tableStyleId>{5C22544A-7EE6-4342-B048-85BDC9FD1C3A}</a:tableStyleId>
              </a:tblPr>
              <a:tblGrid>
                <a:gridCol w="3756130">
                  <a:extLst>
                    <a:ext uri="{9D8B030D-6E8A-4147-A177-3AD203B41FA5}">
                      <a16:colId xmlns:a16="http://schemas.microsoft.com/office/drawing/2014/main" val="2934488146"/>
                    </a:ext>
                  </a:extLst>
                </a:gridCol>
                <a:gridCol w="8076480">
                  <a:extLst>
                    <a:ext uri="{9D8B030D-6E8A-4147-A177-3AD203B41FA5}">
                      <a16:colId xmlns:a16="http://schemas.microsoft.com/office/drawing/2014/main" val="461520610"/>
                    </a:ext>
                  </a:extLst>
                </a:gridCol>
              </a:tblGrid>
              <a:tr h="620380">
                <a:tc>
                  <a:txBody>
                    <a:bodyPr/>
                    <a:lstStyle/>
                    <a:p>
                      <a:pPr algn="ctr"/>
                      <a:r>
                        <a:rPr lang="ru-RU" sz="2800" dirty="0" smtClean="0">
                          <a:solidFill>
                            <a:schemeClr val="tx1"/>
                          </a:solidFill>
                          <a:latin typeface="Times New Roman" panose="02020603050405020304" pitchFamily="18" charset="0"/>
                          <a:cs typeface="Times New Roman" panose="02020603050405020304" pitchFamily="18" charset="0"/>
                        </a:rPr>
                        <a:t>Метод</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tc>
                  <a:txBody>
                    <a:bodyPr/>
                    <a:lstStyle/>
                    <a:p>
                      <a:pPr algn="ctr"/>
                      <a:r>
                        <a:rPr lang="ru-RU" sz="2800" dirty="0" smtClean="0">
                          <a:solidFill>
                            <a:schemeClr val="tx1"/>
                          </a:solidFill>
                          <a:latin typeface="Times New Roman" panose="02020603050405020304" pitchFamily="18" charset="0"/>
                          <a:cs typeface="Times New Roman" panose="02020603050405020304" pitchFamily="18" charset="0"/>
                        </a:rPr>
                        <a:t>Условия применимости</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extLst>
                  <a:ext uri="{0D108BD9-81ED-4DB2-BD59-A6C34878D82A}">
                    <a16:rowId xmlns:a16="http://schemas.microsoft.com/office/drawing/2014/main" val="825560253"/>
                  </a:ext>
                </a:extLst>
              </a:tr>
              <a:tr h="1131281">
                <a:tc>
                  <a:txBody>
                    <a:bodyPr/>
                    <a:lstStyle/>
                    <a:p>
                      <a:r>
                        <a:rPr lang="ru-RU" sz="2800" dirty="0" smtClean="0">
                          <a:solidFill>
                            <a:schemeClr val="tx1"/>
                          </a:solidFill>
                          <a:latin typeface="Times New Roman" panose="02020603050405020304" pitchFamily="18" charset="0"/>
                          <a:cs typeface="Times New Roman" panose="02020603050405020304" pitchFamily="18" charset="0"/>
                        </a:rPr>
                        <a:t>Корреляция Пирсона</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tc>
                  <a:txBody>
                    <a:bodyPr/>
                    <a:lstStyle/>
                    <a:p>
                      <a:r>
                        <a:rPr lang="ru-RU" sz="2800" dirty="0" smtClean="0">
                          <a:solidFill>
                            <a:schemeClr val="tx1"/>
                          </a:solidFill>
                          <a:latin typeface="Times New Roman" panose="02020603050405020304" pitchFamily="18" charset="0"/>
                          <a:cs typeface="Times New Roman" panose="02020603050405020304" pitchFamily="18" charset="0"/>
                        </a:rPr>
                        <a:t>Линейная связь между переменными, отсутствие выбросов, однородность выборки</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extLst>
                  <a:ext uri="{0D108BD9-81ED-4DB2-BD59-A6C34878D82A}">
                    <a16:rowId xmlns:a16="http://schemas.microsoft.com/office/drawing/2014/main" val="2930742159"/>
                  </a:ext>
                </a:extLst>
              </a:tr>
              <a:tr h="1642181">
                <a:tc>
                  <a:txBody>
                    <a:bodyPr/>
                    <a:lstStyle/>
                    <a:p>
                      <a:pPr algn="ctr"/>
                      <a:r>
                        <a:rPr lang="en-US" sz="2800" i="1" dirty="0" smtClean="0">
                          <a:solidFill>
                            <a:schemeClr val="tx1"/>
                          </a:solidFill>
                          <a:latin typeface="Times New Roman" panose="02020603050405020304" pitchFamily="18" charset="0"/>
                          <a:cs typeface="Times New Roman" panose="02020603050405020304" pitchFamily="18" charset="0"/>
                        </a:rPr>
                        <a:t>t- </a:t>
                      </a:r>
                      <a:r>
                        <a:rPr lang="ru-RU" sz="2800" i="1" dirty="0" smtClean="0">
                          <a:solidFill>
                            <a:schemeClr val="tx1"/>
                          </a:solidFill>
                          <a:latin typeface="Times New Roman" panose="02020603050405020304" pitchFamily="18" charset="0"/>
                          <a:cs typeface="Times New Roman" panose="02020603050405020304" pitchFamily="18" charset="0"/>
                        </a:rPr>
                        <a:t>критерий</a:t>
                      </a:r>
                      <a:r>
                        <a:rPr lang="ru-RU" sz="2800" i="1" baseline="0" dirty="0" smtClean="0">
                          <a:solidFill>
                            <a:schemeClr val="tx1"/>
                          </a:solidFill>
                          <a:latin typeface="Times New Roman" panose="02020603050405020304" pitchFamily="18" charset="0"/>
                          <a:cs typeface="Times New Roman" panose="02020603050405020304" pitchFamily="18" charset="0"/>
                        </a:rPr>
                        <a:t> </a:t>
                      </a:r>
                      <a:endParaRPr lang="ru-RU" sz="2800" i="1"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tc>
                  <a:txBody>
                    <a:bodyPr/>
                    <a:lstStyle/>
                    <a:p>
                      <a:r>
                        <a:rPr lang="ru-RU" sz="2800" dirty="0" smtClean="0">
                          <a:solidFill>
                            <a:schemeClr val="tx1"/>
                          </a:solidFill>
                          <a:latin typeface="Times New Roman" panose="02020603050405020304" pitchFamily="18" charset="0"/>
                          <a:cs typeface="Times New Roman" panose="02020603050405020304" pitchFamily="18" charset="0"/>
                        </a:rPr>
                        <a:t>Нормальное распределение для каждой переменной,  приблизительное равенство дисперсий.</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extLst>
                  <a:ext uri="{0D108BD9-81ED-4DB2-BD59-A6C34878D82A}">
                    <a16:rowId xmlns:a16="http://schemas.microsoft.com/office/drawing/2014/main" val="2094207076"/>
                  </a:ext>
                </a:extLst>
              </a:tr>
              <a:tr h="1642181">
                <a:tc>
                  <a:txBody>
                    <a:bodyPr/>
                    <a:lstStyle/>
                    <a:p>
                      <a:pPr algn="ctr"/>
                      <a:r>
                        <a:rPr lang="ru-RU" sz="2800" dirty="0" smtClean="0">
                          <a:solidFill>
                            <a:schemeClr val="tx1"/>
                          </a:solidFill>
                          <a:latin typeface="Times New Roman" panose="02020603050405020304" pitchFamily="18" charset="0"/>
                          <a:cs typeface="Times New Roman" panose="02020603050405020304" pitchFamily="18" charset="0"/>
                        </a:rPr>
                        <a:t>МНК</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tc>
                  <a:txBody>
                    <a:bodyPr/>
                    <a:lstStyle/>
                    <a:p>
                      <a:r>
                        <a:rPr lang="ru-RU" sz="2800" dirty="0" smtClean="0">
                          <a:solidFill>
                            <a:schemeClr val="tx1"/>
                          </a:solidFill>
                          <a:latin typeface="Times New Roman" panose="02020603050405020304" pitchFamily="18" charset="0"/>
                          <a:cs typeface="Times New Roman" panose="02020603050405020304" pitchFamily="18" charset="0"/>
                        </a:rPr>
                        <a:t>Условия Гаусса-Маркова для получения несмещенных,</a:t>
                      </a:r>
                      <a:r>
                        <a:rPr lang="ru-RU" sz="2800" baseline="0" dirty="0" smtClean="0">
                          <a:solidFill>
                            <a:schemeClr val="tx1"/>
                          </a:solidFill>
                          <a:latin typeface="Times New Roman" panose="02020603050405020304" pitchFamily="18" charset="0"/>
                          <a:cs typeface="Times New Roman" panose="02020603050405020304" pitchFamily="18" charset="0"/>
                        </a:rPr>
                        <a:t> состоятельных, эффективных оценок.</a:t>
                      </a:r>
                      <a:endParaRPr lang="ru-RU" sz="2800" dirty="0">
                        <a:solidFill>
                          <a:schemeClr val="tx1"/>
                        </a:solidFill>
                        <a:latin typeface="Times New Roman" panose="02020603050405020304" pitchFamily="18" charset="0"/>
                        <a:cs typeface="Times New Roman" panose="02020603050405020304" pitchFamily="18" charset="0"/>
                      </a:endParaRPr>
                    </a:p>
                  </a:txBody>
                  <a:tcPr>
                    <a:solidFill>
                      <a:schemeClr val="accent1">
                        <a:lumMod val="20000"/>
                        <a:lumOff val="80000"/>
                        <a:alpha val="32000"/>
                      </a:schemeClr>
                    </a:solidFill>
                  </a:tcPr>
                </a:tc>
                <a:extLst>
                  <a:ext uri="{0D108BD9-81ED-4DB2-BD59-A6C34878D82A}">
                    <a16:rowId xmlns:a16="http://schemas.microsoft.com/office/drawing/2014/main" val="1981435304"/>
                  </a:ext>
                </a:extLst>
              </a:tr>
            </a:tbl>
          </a:graphicData>
        </a:graphic>
      </p:graphicFrame>
    </p:spTree>
    <p:extLst>
      <p:ext uri="{BB962C8B-B14F-4D97-AF65-F5344CB8AC3E}">
        <p14:creationId xmlns:p14="http://schemas.microsoft.com/office/powerpoint/2010/main" val="590511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 2</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2540956735"/>
              </p:ext>
            </p:extLst>
          </p:nvPr>
        </p:nvGraphicFramePr>
        <p:xfrm>
          <a:off x="90154" y="1"/>
          <a:ext cx="11964471" cy="6903673"/>
        </p:xfrm>
        <a:graphic>
          <a:graphicData uri="http://schemas.openxmlformats.org/drawingml/2006/table">
            <a:tbl>
              <a:tblPr>
                <a:tableStyleId>{5C22544A-7EE6-4342-B048-85BDC9FD1C3A}</a:tableStyleId>
              </a:tblPr>
              <a:tblGrid>
                <a:gridCol w="3988157">
                  <a:extLst>
                    <a:ext uri="{9D8B030D-6E8A-4147-A177-3AD203B41FA5}">
                      <a16:colId xmlns:a16="http://schemas.microsoft.com/office/drawing/2014/main" val="20000"/>
                    </a:ext>
                  </a:extLst>
                </a:gridCol>
                <a:gridCol w="3988157">
                  <a:extLst>
                    <a:ext uri="{9D8B030D-6E8A-4147-A177-3AD203B41FA5}">
                      <a16:colId xmlns:a16="http://schemas.microsoft.com/office/drawing/2014/main" val="20001"/>
                    </a:ext>
                  </a:extLst>
                </a:gridCol>
                <a:gridCol w="3988157">
                  <a:extLst>
                    <a:ext uri="{9D8B030D-6E8A-4147-A177-3AD203B41FA5}">
                      <a16:colId xmlns:a16="http://schemas.microsoft.com/office/drawing/2014/main" val="20002"/>
                    </a:ext>
                  </a:extLst>
                </a:gridCol>
              </a:tblGrid>
              <a:tr h="293974">
                <a:tc>
                  <a:txBody>
                    <a:bodyPr/>
                    <a:lstStyle/>
                    <a:p>
                      <a:pPr algn="l" fontAlgn="b"/>
                      <a:r>
                        <a:rPr lang="ru-RU" sz="2800" b="1" u="none" strike="noStrike" dirty="0" smtClean="0">
                          <a:effectLst/>
                        </a:rPr>
                        <a:t>ПРИМЕР</a:t>
                      </a:r>
                      <a:r>
                        <a:rPr lang="ru-RU" sz="2800" b="1" u="none" strike="noStrike" baseline="0" dirty="0" smtClean="0">
                          <a:effectLst/>
                        </a:rPr>
                        <a:t> 2  </a:t>
                      </a:r>
                      <a:r>
                        <a:rPr lang="ru-RU" sz="1800" b="1" u="none" strike="noStrike" dirty="0" smtClean="0">
                          <a:effectLst/>
                        </a:rPr>
                        <a:t>Магазин</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Оборот</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Прибыль</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0"/>
                  </a:ext>
                </a:extLst>
              </a:tr>
              <a:tr h="293974">
                <a:tc>
                  <a:txBody>
                    <a:bodyPr/>
                    <a:lstStyle/>
                    <a:p>
                      <a:pPr algn="ctr" fontAlgn="b"/>
                      <a:r>
                        <a:rPr lang="ru-RU" sz="1800" b="1" u="none" strike="noStrike" dirty="0">
                          <a:effectLst/>
                        </a:rPr>
                        <a:t>1</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160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a:effectLst/>
                        </a:rPr>
                        <a:t>142,4</a:t>
                      </a:r>
                      <a:endParaRPr lang="ru-RU" sz="1800" b="1" i="0" u="none" strike="noStrike">
                        <a:effectLst/>
                        <a:latin typeface="Arial Cyr" panose="020B0604020202020204" pitchFamily="34" charset="0"/>
                      </a:endParaRPr>
                    </a:p>
                  </a:txBody>
                  <a:tcPr marL="9525" marR="9525" marT="9525" marB="0" anchor="b"/>
                </a:tc>
                <a:extLst>
                  <a:ext uri="{0D108BD9-81ED-4DB2-BD59-A6C34878D82A}">
                    <a16:rowId xmlns:a16="http://schemas.microsoft.com/office/drawing/2014/main" val="10001"/>
                  </a:ext>
                </a:extLst>
              </a:tr>
              <a:tr h="293974">
                <a:tc>
                  <a:txBody>
                    <a:bodyPr/>
                    <a:lstStyle/>
                    <a:p>
                      <a:pPr algn="ctr" fontAlgn="b"/>
                      <a:r>
                        <a:rPr lang="ru-RU" sz="1800" b="1" u="none" strike="noStrike" dirty="0">
                          <a:effectLst/>
                        </a:rPr>
                        <a:t>2</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60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29,5</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2"/>
                  </a:ext>
                </a:extLst>
              </a:tr>
              <a:tr h="293974">
                <a:tc>
                  <a:txBody>
                    <a:bodyPr/>
                    <a:lstStyle/>
                    <a:p>
                      <a:pPr algn="ctr" fontAlgn="b"/>
                      <a:r>
                        <a:rPr lang="ru-RU" sz="1800" b="1" u="none" strike="noStrike" dirty="0">
                          <a:effectLst/>
                        </a:rPr>
                        <a:t>3</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a:effectLst/>
                        </a:rPr>
                        <a:t>70</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50,2</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3"/>
                  </a:ext>
                </a:extLst>
              </a:tr>
              <a:tr h="293974">
                <a:tc>
                  <a:txBody>
                    <a:bodyPr/>
                    <a:lstStyle/>
                    <a:p>
                      <a:pPr algn="ctr" fontAlgn="b"/>
                      <a:r>
                        <a:rPr lang="ru-RU" sz="1800" b="1" u="none" strike="noStrike" dirty="0">
                          <a:effectLst/>
                        </a:rPr>
                        <a:t>4</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a:effectLst/>
                        </a:rPr>
                        <a:t>200</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148</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4"/>
                  </a:ext>
                </a:extLst>
              </a:tr>
              <a:tr h="293974">
                <a:tc>
                  <a:txBody>
                    <a:bodyPr/>
                    <a:lstStyle/>
                    <a:p>
                      <a:pPr algn="ctr" fontAlgn="b"/>
                      <a:r>
                        <a:rPr lang="ru-RU" sz="1800" b="1" u="none" strike="noStrike" dirty="0">
                          <a:effectLst/>
                        </a:rPr>
                        <a:t>5</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a:effectLst/>
                        </a:rPr>
                        <a:t>240</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155,1</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5"/>
                  </a:ext>
                </a:extLst>
              </a:tr>
              <a:tr h="293974">
                <a:tc>
                  <a:txBody>
                    <a:bodyPr/>
                    <a:lstStyle/>
                    <a:p>
                      <a:pPr algn="ctr" fontAlgn="b"/>
                      <a:r>
                        <a:rPr lang="ru-RU" sz="1800" b="1" u="none" strike="noStrike" dirty="0">
                          <a:effectLst/>
                        </a:rPr>
                        <a:t>6</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a:effectLst/>
                        </a:rPr>
                        <a:t>100</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85,6</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6"/>
                  </a:ext>
                </a:extLst>
              </a:tr>
              <a:tr h="293974">
                <a:tc>
                  <a:txBody>
                    <a:bodyPr/>
                    <a:lstStyle/>
                    <a:p>
                      <a:pPr algn="ctr" fontAlgn="b"/>
                      <a:r>
                        <a:rPr lang="ru-RU" sz="1800" b="1" u="none" strike="noStrike">
                          <a:effectLst/>
                        </a:rPr>
                        <a:t>7</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170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146,9</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7"/>
                  </a:ext>
                </a:extLst>
              </a:tr>
              <a:tr h="293974">
                <a:tc>
                  <a:txBody>
                    <a:bodyPr/>
                    <a:lstStyle/>
                    <a:p>
                      <a:pPr algn="ctr" fontAlgn="b"/>
                      <a:r>
                        <a:rPr lang="ru-RU" sz="1800" b="1" u="none" strike="noStrike">
                          <a:effectLst/>
                        </a:rPr>
                        <a:t>8</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180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156,8</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8"/>
                  </a:ext>
                </a:extLst>
              </a:tr>
              <a:tr h="293974">
                <a:tc>
                  <a:txBody>
                    <a:bodyPr/>
                    <a:lstStyle/>
                    <a:p>
                      <a:pPr algn="ctr" fontAlgn="b"/>
                      <a:r>
                        <a:rPr lang="ru-RU" sz="1800" b="1" u="none" strike="noStrike">
                          <a:effectLst/>
                        </a:rPr>
                        <a:t>9</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130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122,5</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09"/>
                  </a:ext>
                </a:extLst>
              </a:tr>
              <a:tr h="293974">
                <a:tc>
                  <a:txBody>
                    <a:bodyPr/>
                    <a:lstStyle/>
                    <a:p>
                      <a:pPr algn="ctr" fontAlgn="b"/>
                      <a:r>
                        <a:rPr lang="ru-RU" sz="1800" b="1" u="none" strike="noStrike">
                          <a:effectLst/>
                        </a:rPr>
                        <a:t>10</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210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159,4</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0"/>
                  </a:ext>
                </a:extLst>
              </a:tr>
              <a:tr h="293974">
                <a:tc>
                  <a:txBody>
                    <a:bodyPr/>
                    <a:lstStyle/>
                    <a:p>
                      <a:pPr algn="ctr" fontAlgn="b"/>
                      <a:r>
                        <a:rPr lang="ru-RU" sz="1800" b="1" u="none" strike="noStrike">
                          <a:effectLst/>
                        </a:rPr>
                        <a:t>11</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140</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1"/>
                  </a:ext>
                </a:extLst>
              </a:tr>
              <a:tr h="293974">
                <a:tc>
                  <a:txBody>
                    <a:bodyPr/>
                    <a:lstStyle/>
                    <a:p>
                      <a:pPr algn="ctr" fontAlgn="b"/>
                      <a:r>
                        <a:rPr lang="ru-RU" sz="1800" b="1" u="none" strike="noStrike">
                          <a:effectLst/>
                        </a:rPr>
                        <a:t>12</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50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6</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2"/>
                  </a:ext>
                </a:extLst>
              </a:tr>
              <a:tr h="293974">
                <a:tc>
                  <a:txBody>
                    <a:bodyPr/>
                    <a:lstStyle/>
                    <a:p>
                      <a:pPr algn="ctr" fontAlgn="b"/>
                      <a:r>
                        <a:rPr lang="ru-RU" sz="1800" b="1" u="none" strike="noStrike" dirty="0">
                          <a:effectLst/>
                        </a:rPr>
                        <a:t>13</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110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104</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3"/>
                  </a:ext>
                </a:extLst>
              </a:tr>
              <a:tr h="293974">
                <a:tc>
                  <a:txBody>
                    <a:bodyPr/>
                    <a:lstStyle/>
                    <a:p>
                      <a:pPr algn="ctr" fontAlgn="b"/>
                      <a:r>
                        <a:rPr lang="ru-RU" sz="1800" b="1" u="none" strike="noStrike">
                          <a:effectLst/>
                        </a:rPr>
                        <a:t>14</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120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116,6</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4"/>
                  </a:ext>
                </a:extLst>
              </a:tr>
              <a:tr h="293974">
                <a:tc>
                  <a:txBody>
                    <a:bodyPr/>
                    <a:lstStyle/>
                    <a:p>
                      <a:pPr algn="ctr" fontAlgn="b"/>
                      <a:r>
                        <a:rPr lang="ru-RU" sz="1800" b="1" u="none" strike="noStrike">
                          <a:effectLst/>
                        </a:rPr>
                        <a:t>15</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190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156</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5"/>
                  </a:ext>
                </a:extLst>
              </a:tr>
              <a:tr h="293974">
                <a:tc>
                  <a:txBody>
                    <a:bodyPr/>
                    <a:lstStyle/>
                    <a:p>
                      <a:pPr algn="ctr" fontAlgn="b"/>
                      <a:r>
                        <a:rPr lang="ru-RU" sz="1800" b="1" u="none" strike="noStrike">
                          <a:effectLst/>
                        </a:rPr>
                        <a:t>16</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80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64,9</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6"/>
                  </a:ext>
                </a:extLst>
              </a:tr>
              <a:tr h="293974">
                <a:tc>
                  <a:txBody>
                    <a:bodyPr/>
                    <a:lstStyle/>
                    <a:p>
                      <a:pPr algn="ctr" fontAlgn="b"/>
                      <a:r>
                        <a:rPr lang="ru-RU" sz="1800" b="1" u="none" strike="noStrike">
                          <a:effectLst/>
                        </a:rPr>
                        <a:t>17</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140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134,3</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7"/>
                  </a:ext>
                </a:extLst>
              </a:tr>
              <a:tr h="293974">
                <a:tc>
                  <a:txBody>
                    <a:bodyPr/>
                    <a:lstStyle/>
                    <a:p>
                      <a:pPr algn="ctr" fontAlgn="b"/>
                      <a:r>
                        <a:rPr lang="ru-RU" sz="1800" b="1" u="none" strike="noStrike">
                          <a:effectLst/>
                        </a:rPr>
                        <a:t>18</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220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153,5</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8"/>
                  </a:ext>
                </a:extLst>
              </a:tr>
              <a:tr h="293974">
                <a:tc>
                  <a:txBody>
                    <a:bodyPr/>
                    <a:lstStyle/>
                    <a:p>
                      <a:pPr algn="ctr" fontAlgn="b"/>
                      <a:r>
                        <a:rPr lang="ru-RU" sz="1800" b="1" u="none" strike="noStrike">
                          <a:effectLst/>
                        </a:rPr>
                        <a:t>19</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230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145,2</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19"/>
                  </a:ext>
                </a:extLst>
              </a:tr>
              <a:tr h="293974">
                <a:tc>
                  <a:txBody>
                    <a:bodyPr/>
                    <a:lstStyle/>
                    <a:p>
                      <a:pPr algn="ctr" fontAlgn="b"/>
                      <a:r>
                        <a:rPr lang="ru-RU" sz="1800" b="1" u="none" strike="noStrike">
                          <a:effectLst/>
                        </a:rPr>
                        <a:t>20</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90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62,7</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20"/>
                  </a:ext>
                </a:extLst>
              </a:tr>
              <a:tr h="293974">
                <a:tc>
                  <a:txBody>
                    <a:bodyPr/>
                    <a:lstStyle/>
                    <a:p>
                      <a:pPr algn="ctr" fontAlgn="b"/>
                      <a:r>
                        <a:rPr lang="ru-RU" sz="1800" b="1" u="none" strike="noStrike">
                          <a:effectLst/>
                        </a:rPr>
                        <a:t>21</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260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151,4</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21"/>
                  </a:ext>
                </a:extLst>
              </a:tr>
              <a:tr h="293974">
                <a:tc>
                  <a:txBody>
                    <a:bodyPr/>
                    <a:lstStyle/>
                    <a:p>
                      <a:pPr algn="ctr" fontAlgn="b"/>
                      <a:r>
                        <a:rPr lang="ru-RU" sz="1800" b="1" u="none" strike="noStrike">
                          <a:effectLst/>
                        </a:rPr>
                        <a:t>22</a:t>
                      </a:r>
                      <a:endParaRPr lang="ru-RU" sz="1800" b="1" i="0" u="none" strike="noStrike">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250</a:t>
                      </a:r>
                      <a:endParaRPr lang="ru-RU" sz="1800" b="1" i="0" u="none" strike="noStrike" dirty="0">
                        <a:effectLst/>
                        <a:latin typeface="Arial Cyr" panose="020B0604020202020204" pitchFamily="34" charset="0"/>
                      </a:endParaRPr>
                    </a:p>
                  </a:txBody>
                  <a:tcPr marL="9525" marR="9525" marT="9525" marB="0" anchor="b"/>
                </a:tc>
                <a:tc>
                  <a:txBody>
                    <a:bodyPr/>
                    <a:lstStyle/>
                    <a:p>
                      <a:pPr algn="ctr" fontAlgn="b"/>
                      <a:r>
                        <a:rPr lang="ru-RU" sz="1800" b="1" u="none" strike="noStrike" dirty="0">
                          <a:effectLst/>
                        </a:rPr>
                        <a:t>150,1</a:t>
                      </a:r>
                      <a:endParaRPr lang="ru-RU" sz="1800" b="1" i="0" u="none" strike="noStrike" dirty="0">
                        <a:effectLst/>
                        <a:latin typeface="Arial Cyr" panose="020B0604020202020204" pitchFamily="34" charset="0"/>
                      </a:endParaRPr>
                    </a:p>
                  </a:txBody>
                  <a:tcPr marL="9525" marR="9525" marT="9525" marB="0" anchor="b"/>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1936249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Объект 3"/>
          <p:cNvGraphicFramePr>
            <a:graphicFrameLocks noGrp="1"/>
          </p:cNvGraphicFramePr>
          <p:nvPr>
            <p:ph idx="1"/>
            <p:extLst>
              <p:ext uri="{D42A27DB-BD31-4B8C-83A1-F6EECF244321}">
                <p14:modId xmlns:p14="http://schemas.microsoft.com/office/powerpoint/2010/main" val="2006039740"/>
              </p:ext>
            </p:extLst>
          </p:nvPr>
        </p:nvGraphicFramePr>
        <p:xfrm>
          <a:off x="-2" y="1"/>
          <a:ext cx="12243925" cy="7054923"/>
        </p:xfrm>
        <a:graphic>
          <a:graphicData uri="http://schemas.openxmlformats.org/drawingml/2006/table">
            <a:tbl>
              <a:tblPr>
                <a:tableStyleId>{5C22544A-7EE6-4342-B048-85BDC9FD1C3A}</a:tableStyleId>
              </a:tblPr>
              <a:tblGrid>
                <a:gridCol w="11542813">
                  <a:extLst>
                    <a:ext uri="{9D8B030D-6E8A-4147-A177-3AD203B41FA5}">
                      <a16:colId xmlns:a16="http://schemas.microsoft.com/office/drawing/2014/main" val="20000"/>
                    </a:ext>
                  </a:extLst>
                </a:gridCol>
                <a:gridCol w="701112">
                  <a:extLst>
                    <a:ext uri="{9D8B030D-6E8A-4147-A177-3AD203B41FA5}">
                      <a16:colId xmlns:a16="http://schemas.microsoft.com/office/drawing/2014/main" val="20001"/>
                    </a:ext>
                  </a:extLst>
                </a:gridCol>
              </a:tblGrid>
              <a:tr h="861096">
                <a:tc gridSpan="2">
                  <a:txBody>
                    <a:bodyPr/>
                    <a:lstStyle/>
                    <a:p>
                      <a:pPr algn="l" fontAlgn="b"/>
                      <a:r>
                        <a:rPr lang="ru-RU" sz="3600" u="none" strike="noStrike" dirty="0" smtClean="0">
                          <a:effectLst/>
                          <a:latin typeface="Times New Roman" panose="02020603050405020304" pitchFamily="18" charset="0"/>
                          <a:cs typeface="Times New Roman" panose="02020603050405020304" pitchFamily="18" charset="0"/>
                        </a:rPr>
                        <a:t>Магазин </a:t>
                      </a:r>
                      <a:r>
                        <a:rPr lang="ru-RU" sz="3600" u="none" strike="noStrike" dirty="0" err="1" smtClean="0">
                          <a:effectLst/>
                          <a:latin typeface="Times New Roman" panose="02020603050405020304" pitchFamily="18" charset="0"/>
                          <a:cs typeface="Times New Roman" panose="02020603050405020304" pitchFamily="18" charset="0"/>
                        </a:rPr>
                        <a:t>оборот_прибыль</a:t>
                      </a:r>
                      <a:r>
                        <a:rPr lang="ru-RU" sz="3600" u="none" strike="noStrike" dirty="0" smtClean="0">
                          <a:effectLst/>
                          <a:latin typeface="Times New Roman" panose="02020603050405020304" pitchFamily="18" charset="0"/>
                          <a:cs typeface="Times New Roman" panose="02020603050405020304" pitchFamily="18" charset="0"/>
                        </a:rPr>
                        <a:t> (Укрупнять ли магазины?)</a:t>
                      </a:r>
                      <a:endParaRPr lang="ru-RU" sz="36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0"/>
                  </a:ext>
                </a:extLst>
              </a:tr>
              <a:tr h="810163">
                <a:tc gridSpan="2">
                  <a:txBody>
                    <a:bodyPr/>
                    <a:lstStyle/>
                    <a:p>
                      <a:pPr algn="l" fontAlgn="b"/>
                      <a:r>
                        <a:rPr lang="ru-RU" sz="3200" u="none" strike="noStrike" dirty="0">
                          <a:effectLst/>
                          <a:latin typeface="Times New Roman" panose="02020603050405020304" pitchFamily="18" charset="0"/>
                          <a:cs typeface="Times New Roman" panose="02020603050405020304" pitchFamily="18" charset="0"/>
                        </a:rPr>
                        <a:t>Компания владеет 22 магазинами. </a:t>
                      </a:r>
                      <a:endParaRPr lang="ru-RU" sz="32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1"/>
                  </a:ext>
                </a:extLst>
              </a:tr>
              <a:tr h="1135084">
                <a:tc>
                  <a:txBody>
                    <a:bodyPr/>
                    <a:lstStyle/>
                    <a:p>
                      <a:pPr algn="l" defTabSz="1816100" fontAlgn="b"/>
                      <a:r>
                        <a:rPr lang="ru-RU" sz="2800" u="none" strike="noStrike" dirty="0">
                          <a:effectLst/>
                          <a:latin typeface="Times New Roman" panose="02020603050405020304" pitchFamily="18" charset="0"/>
                          <a:cs typeface="Times New Roman" panose="02020603050405020304" pitchFamily="18" charset="0"/>
                        </a:rPr>
                        <a:t>Финансовый директор всех магазинов рассматривает возможность слияния некоторых из них </a:t>
                      </a:r>
                      <a:r>
                        <a:rPr lang="ru-RU" sz="2800" u="none" strike="noStrike" dirty="0" smtClean="0">
                          <a:effectLst/>
                          <a:latin typeface="Times New Roman" panose="02020603050405020304" pitchFamily="18" charset="0"/>
                          <a:cs typeface="Times New Roman" panose="02020603050405020304" pitchFamily="18" charset="0"/>
                        </a:rPr>
                        <a:t>в </a:t>
                      </a:r>
                      <a:r>
                        <a:rPr lang="ru-RU" sz="2800" u="none" strike="noStrike" dirty="0">
                          <a:effectLst/>
                          <a:latin typeface="Times New Roman" panose="02020603050405020304" pitchFamily="18" charset="0"/>
                          <a:cs typeface="Times New Roman" panose="02020603050405020304" pitchFamily="18" charset="0"/>
                        </a:rPr>
                        <a:t>целях увеличения прибыльности </a:t>
                      </a:r>
                      <a:r>
                        <a:rPr lang="ru-RU" sz="2800" u="none" strike="noStrike" dirty="0" smtClean="0">
                          <a:effectLst/>
                          <a:latin typeface="Times New Roman" panose="02020603050405020304" pitchFamily="18" charset="0"/>
                          <a:cs typeface="Times New Roman" panose="02020603050405020304" pitchFamily="18" charset="0"/>
                        </a:rPr>
                        <a:t>компании</a:t>
                      </a:r>
                      <a:r>
                        <a:rPr lang="ru-RU" sz="2800" u="none" strike="noStrike" dirty="0">
                          <a:effectLst/>
                          <a:latin typeface="Times New Roman" panose="02020603050405020304" pitchFamily="18" charset="0"/>
                          <a:cs typeface="Times New Roman" panose="02020603050405020304" pitchFamily="18" charset="0"/>
                        </a:rPr>
                        <a:t>. </a:t>
                      </a:r>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2"/>
                  </a:ext>
                </a:extLst>
              </a:tr>
              <a:tr h="810163">
                <a:tc gridSpan="2">
                  <a:txBody>
                    <a:bodyPr/>
                    <a:lstStyle/>
                    <a:p>
                      <a:pPr algn="l" fontAlgn="b"/>
                      <a:r>
                        <a:rPr lang="ru-RU" sz="2800" u="none" strike="noStrike" dirty="0">
                          <a:effectLst/>
                          <a:latin typeface="Times New Roman" panose="02020603050405020304" pitchFamily="18" charset="0"/>
                          <a:cs typeface="Times New Roman" panose="02020603050405020304" pitchFamily="18" charset="0"/>
                        </a:rPr>
                        <a:t>Он предполагает, что прибыльность </a:t>
                      </a:r>
                      <a:r>
                        <a:rPr lang="ru-RU" sz="2800" u="none" strike="noStrike" dirty="0" smtClean="0">
                          <a:effectLst/>
                          <a:latin typeface="Times New Roman" panose="02020603050405020304" pitchFamily="18" charset="0"/>
                          <a:cs typeface="Times New Roman" panose="02020603050405020304" pitchFamily="18" charset="0"/>
                        </a:rPr>
                        <a:t>магазинов </a:t>
                      </a:r>
                      <a:r>
                        <a:rPr lang="ru-RU" sz="2800" u="none" strike="noStrike" dirty="0">
                          <a:effectLst/>
                          <a:latin typeface="Times New Roman" panose="02020603050405020304" pitchFamily="18" charset="0"/>
                          <a:cs typeface="Times New Roman" panose="02020603050405020304" pitchFamily="18" charset="0"/>
                        </a:rPr>
                        <a:t>растет </a:t>
                      </a:r>
                      <a:r>
                        <a:rPr lang="ru-RU" sz="2800" u="none" strike="noStrike" dirty="0" smtClean="0">
                          <a:effectLst/>
                          <a:latin typeface="Times New Roman" panose="02020603050405020304" pitchFamily="18" charset="0"/>
                          <a:cs typeface="Times New Roman" panose="02020603050405020304" pitchFamily="18" charset="0"/>
                        </a:rPr>
                        <a:t>в зависимости </a:t>
                      </a:r>
                      <a:r>
                        <a:rPr lang="ru-RU" sz="2800" u="none" strike="noStrike" dirty="0">
                          <a:effectLst/>
                          <a:latin typeface="Times New Roman" panose="02020603050405020304" pitchFamily="18" charset="0"/>
                          <a:cs typeface="Times New Roman" panose="02020603050405020304" pitchFamily="18" charset="0"/>
                        </a:rPr>
                        <a:t>от  оборота.</a:t>
                      </a:r>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3"/>
                  </a:ext>
                </a:extLst>
              </a:tr>
              <a:tr h="812873">
                <a:tc gridSpan="2">
                  <a:txBody>
                    <a:bodyPr/>
                    <a:lstStyle/>
                    <a:p>
                      <a:pPr algn="l" fontAlgn="b"/>
                      <a:r>
                        <a:rPr lang="ru-RU" sz="2800" u="none" strike="noStrike" dirty="0">
                          <a:effectLst/>
                          <a:latin typeface="Times New Roman" panose="02020603050405020304" pitchFamily="18" charset="0"/>
                          <a:cs typeface="Times New Roman" panose="02020603050405020304" pitchFamily="18" charset="0"/>
                        </a:rPr>
                        <a:t>Данные для каждого магазина за последний год в тыс. долл. приведены в таблице.</a:t>
                      </a:r>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4"/>
                  </a:ext>
                </a:extLst>
              </a:tr>
              <a:tr h="454126">
                <a:tc gridSpan="2">
                  <a:txBody>
                    <a:bodyPr/>
                    <a:lstStyle/>
                    <a:p>
                      <a:pPr marL="0" marR="0" indent="0" algn="l" defTabSz="992188" rtl="0" eaLnBrk="1" fontAlgn="b" latinLnBrk="0" hangingPunct="1">
                        <a:lnSpc>
                          <a:spcPct val="100000"/>
                        </a:lnSpc>
                        <a:spcBef>
                          <a:spcPts val="0"/>
                        </a:spcBef>
                        <a:spcAft>
                          <a:spcPts val="0"/>
                        </a:spcAft>
                        <a:buClrTx/>
                        <a:buSzTx/>
                        <a:buFontTx/>
                        <a:buNone/>
                        <a:tabLst>
                          <a:tab pos="90488" algn="l"/>
                        </a:tabLst>
                        <a:defRPr/>
                      </a:pPr>
                      <a:r>
                        <a:rPr lang="ru-RU" sz="2800" u="none" strike="noStrike" dirty="0" smtClean="0">
                          <a:effectLst/>
                          <a:latin typeface="Times New Roman" panose="02020603050405020304" pitchFamily="18" charset="0"/>
                          <a:cs typeface="Times New Roman" panose="02020603050405020304" pitchFamily="18" charset="0"/>
                        </a:rPr>
                        <a:t>Задание: Выполнить анализ данных. </a:t>
                      </a:r>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5"/>
                  </a:ext>
                </a:extLst>
              </a:tr>
              <a:tr h="800328">
                <a:tc gridSpan="2">
                  <a:txBody>
                    <a:bodyPr/>
                    <a:lstStyle/>
                    <a:p>
                      <a:pPr algn="l" fontAlgn="b"/>
                      <a:r>
                        <a:rPr lang="ru-RU" sz="2800" u="none" strike="noStrike" dirty="0" smtClean="0">
                          <a:effectLst/>
                          <a:latin typeface="Times New Roman" panose="02020603050405020304" pitchFamily="18" charset="0"/>
                          <a:cs typeface="Times New Roman" panose="02020603050405020304" pitchFamily="18" charset="0"/>
                        </a:rPr>
                        <a:t>Ответить на вопрос, существует ли зависимость между оборотом магазина и его прибылью? Если такая зависимость есть, необходимо ли слияние магазинов?</a:t>
                      </a:r>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extLst>
                  <a:ext uri="{0D108BD9-81ED-4DB2-BD59-A6C34878D82A}">
                    <a16:rowId xmlns:a16="http://schemas.microsoft.com/office/drawing/2014/main" val="10006"/>
                  </a:ext>
                </a:extLst>
              </a:tr>
              <a:tr h="1211730">
                <a:tc gridSpan="2">
                  <a:txBody>
                    <a:bodyPr/>
                    <a:lstStyle/>
                    <a:p>
                      <a:pPr algn="l" fontAlgn="b"/>
                      <a:endParaRPr lang="ru-RU" sz="2800" b="0" i="0" u="none" strike="noStrike" dirty="0">
                        <a:effectLst/>
                        <a:latin typeface="Times New Roman" panose="02020603050405020304" pitchFamily="18" charset="0"/>
                        <a:cs typeface="Times New Roman" panose="02020603050405020304" pitchFamily="18" charset="0"/>
                      </a:endParaRPr>
                    </a:p>
                  </a:txBody>
                  <a:tcPr marL="7468" marR="7468" marT="7468" marB="0" anchor="b"/>
                </a:tc>
                <a:tc hMerge="1">
                  <a:txBody>
                    <a:bodyPr/>
                    <a:lstStyle/>
                    <a:p>
                      <a:endParaRPr lang="ru-RU"/>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388514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Действия директора</a:t>
            </a:r>
            <a:endParaRPr lang="ru-RU" dirty="0"/>
          </a:p>
        </p:txBody>
      </p:sp>
      <p:sp>
        <p:nvSpPr>
          <p:cNvPr id="3" name="Объект 2"/>
          <p:cNvSpPr>
            <a:spLocks noGrp="1"/>
          </p:cNvSpPr>
          <p:nvPr>
            <p:ph idx="1"/>
          </p:nvPr>
        </p:nvSpPr>
        <p:spPr/>
        <p:txBody>
          <a:bodyPr/>
          <a:lstStyle/>
          <a:p>
            <a:pPr marL="514350" indent="-514350">
              <a:buAutoNum type="arabicPeriod"/>
            </a:pPr>
            <a:r>
              <a:rPr lang="ru-RU" dirty="0" smtClean="0"/>
              <a:t>Вычисляет корреляцию между оборотом и прибылью:</a:t>
            </a:r>
          </a:p>
          <a:p>
            <a:pPr marL="514350" indent="-514350">
              <a:buAutoNum type="arabicPeriod"/>
            </a:pPr>
            <a:endParaRPr lang="ru-RU" dirty="0"/>
          </a:p>
        </p:txBody>
      </p:sp>
      <p:graphicFrame>
        <p:nvGraphicFramePr>
          <p:cNvPr id="4" name="Таблица 3"/>
          <p:cNvGraphicFramePr>
            <a:graphicFrameLocks noGrp="1"/>
          </p:cNvGraphicFramePr>
          <p:nvPr>
            <p:extLst>
              <p:ext uri="{D42A27DB-BD31-4B8C-83A1-F6EECF244321}">
                <p14:modId xmlns:p14="http://schemas.microsoft.com/office/powerpoint/2010/main" val="42050005"/>
              </p:ext>
            </p:extLst>
          </p:nvPr>
        </p:nvGraphicFramePr>
        <p:xfrm>
          <a:off x="1310183" y="2743199"/>
          <a:ext cx="4981434" cy="2251881"/>
        </p:xfrm>
        <a:graphic>
          <a:graphicData uri="http://schemas.openxmlformats.org/drawingml/2006/table">
            <a:tbl>
              <a:tblPr>
                <a:tableStyleId>{5C22544A-7EE6-4342-B048-85BDC9FD1C3A}</a:tableStyleId>
              </a:tblPr>
              <a:tblGrid>
                <a:gridCol w="1660478">
                  <a:extLst>
                    <a:ext uri="{9D8B030D-6E8A-4147-A177-3AD203B41FA5}">
                      <a16:colId xmlns:a16="http://schemas.microsoft.com/office/drawing/2014/main" val="135712575"/>
                    </a:ext>
                  </a:extLst>
                </a:gridCol>
                <a:gridCol w="1660478">
                  <a:extLst>
                    <a:ext uri="{9D8B030D-6E8A-4147-A177-3AD203B41FA5}">
                      <a16:colId xmlns:a16="http://schemas.microsoft.com/office/drawing/2014/main" val="1199551450"/>
                    </a:ext>
                  </a:extLst>
                </a:gridCol>
                <a:gridCol w="1660478">
                  <a:extLst>
                    <a:ext uri="{9D8B030D-6E8A-4147-A177-3AD203B41FA5}">
                      <a16:colId xmlns:a16="http://schemas.microsoft.com/office/drawing/2014/main" val="4006834569"/>
                    </a:ext>
                  </a:extLst>
                </a:gridCol>
              </a:tblGrid>
              <a:tr h="750627">
                <a:tc>
                  <a:txBody>
                    <a:bodyPr/>
                    <a:lstStyle/>
                    <a:p>
                      <a:pPr algn="ctr" fontAlgn="b"/>
                      <a:r>
                        <a:rPr lang="ru-RU" sz="2800" u="none" strike="noStrike">
                          <a:effectLst/>
                          <a:latin typeface="Arial Cyr" panose="020B0604020202020204" pitchFamily="34" charset="0"/>
                          <a:cs typeface="Arial Cyr" panose="020B0604020202020204" pitchFamily="34" charset="0"/>
                        </a:rPr>
                        <a:t> </a:t>
                      </a:r>
                      <a:endParaRPr lang="ru-RU" sz="28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ctr" fontAlgn="b"/>
                      <a:r>
                        <a:rPr lang="ru-RU" sz="2800" u="none" strike="noStrike">
                          <a:effectLst/>
                          <a:latin typeface="Arial Cyr" panose="020B0604020202020204" pitchFamily="34" charset="0"/>
                          <a:cs typeface="Arial Cyr" panose="020B0604020202020204" pitchFamily="34" charset="0"/>
                        </a:rPr>
                        <a:t>Оборот</a:t>
                      </a:r>
                      <a:endParaRPr lang="ru-RU" sz="28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ctr" fontAlgn="b"/>
                      <a:r>
                        <a:rPr lang="ru-RU" sz="2800" u="none" strike="noStrike">
                          <a:effectLst/>
                          <a:latin typeface="Arial Cyr" panose="020B0604020202020204" pitchFamily="34" charset="0"/>
                          <a:cs typeface="Arial Cyr" panose="020B0604020202020204" pitchFamily="34" charset="0"/>
                        </a:rPr>
                        <a:t>Прибыль</a:t>
                      </a:r>
                      <a:endParaRPr lang="ru-RU" sz="28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extLst>
                  <a:ext uri="{0D108BD9-81ED-4DB2-BD59-A6C34878D82A}">
                    <a16:rowId xmlns:a16="http://schemas.microsoft.com/office/drawing/2014/main" val="3505822120"/>
                  </a:ext>
                </a:extLst>
              </a:tr>
              <a:tr h="750627">
                <a:tc>
                  <a:txBody>
                    <a:bodyPr/>
                    <a:lstStyle/>
                    <a:p>
                      <a:pPr algn="l" fontAlgn="b"/>
                      <a:r>
                        <a:rPr lang="ru-RU" sz="2800" u="none" strike="noStrike">
                          <a:effectLst/>
                          <a:latin typeface="Arial Cyr" panose="020B0604020202020204" pitchFamily="34" charset="0"/>
                          <a:cs typeface="Arial Cyr" panose="020B0604020202020204" pitchFamily="34" charset="0"/>
                        </a:rPr>
                        <a:t>Оборот</a:t>
                      </a:r>
                      <a:endParaRPr lang="ru-RU" sz="28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800" u="none" strike="noStrike">
                          <a:effectLst/>
                          <a:latin typeface="Arial Cyr" panose="020B0604020202020204" pitchFamily="34" charset="0"/>
                          <a:cs typeface="Arial Cyr" panose="020B0604020202020204" pitchFamily="34" charset="0"/>
                        </a:rPr>
                        <a:t>1</a:t>
                      </a:r>
                      <a:endParaRPr lang="ru-RU" sz="28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l" fontAlgn="b"/>
                      <a:endParaRPr lang="ru-RU" sz="28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extLst>
                  <a:ext uri="{0D108BD9-81ED-4DB2-BD59-A6C34878D82A}">
                    <a16:rowId xmlns:a16="http://schemas.microsoft.com/office/drawing/2014/main" val="1564258258"/>
                  </a:ext>
                </a:extLst>
              </a:tr>
              <a:tr h="750627">
                <a:tc>
                  <a:txBody>
                    <a:bodyPr/>
                    <a:lstStyle/>
                    <a:p>
                      <a:pPr algn="l" fontAlgn="b"/>
                      <a:r>
                        <a:rPr lang="ru-RU" sz="2800" u="none" strike="noStrike">
                          <a:effectLst/>
                          <a:latin typeface="Arial Cyr" panose="020B0604020202020204" pitchFamily="34" charset="0"/>
                          <a:cs typeface="Arial Cyr" panose="020B0604020202020204" pitchFamily="34" charset="0"/>
                        </a:rPr>
                        <a:t>Прибыль</a:t>
                      </a:r>
                      <a:endParaRPr lang="ru-RU" sz="28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800" u="none" strike="noStrike">
                          <a:effectLst/>
                          <a:latin typeface="Arial Cyr" panose="020B0604020202020204" pitchFamily="34" charset="0"/>
                          <a:cs typeface="Arial Cyr" panose="020B0604020202020204" pitchFamily="34" charset="0"/>
                        </a:rPr>
                        <a:t>0,884114</a:t>
                      </a:r>
                      <a:endParaRPr lang="ru-RU" sz="28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800" u="none" strike="noStrike" dirty="0">
                          <a:effectLst/>
                          <a:latin typeface="Arial Cyr" panose="020B0604020202020204" pitchFamily="34" charset="0"/>
                          <a:cs typeface="Arial Cyr" panose="020B0604020202020204" pitchFamily="34" charset="0"/>
                        </a:rPr>
                        <a:t>1</a:t>
                      </a:r>
                      <a:endParaRPr lang="ru-RU" sz="2800" b="0" i="0" u="none" strike="noStrike" dirty="0">
                        <a:solidFill>
                          <a:srgbClr val="000000"/>
                        </a:solidFill>
                        <a:effectLst/>
                        <a:latin typeface="Arial Cyr" panose="020B0604020202020204" pitchFamily="34" charset="0"/>
                        <a:cs typeface="Arial Cyr" panose="020B0604020202020204" pitchFamily="34" charset="0"/>
                      </a:endParaRPr>
                    </a:p>
                  </a:txBody>
                  <a:tcPr marL="9525" marR="9525" marT="9525" marB="0" anchor="b"/>
                </a:tc>
                <a:extLst>
                  <a:ext uri="{0D108BD9-81ED-4DB2-BD59-A6C34878D82A}">
                    <a16:rowId xmlns:a16="http://schemas.microsoft.com/office/drawing/2014/main" val="2634624960"/>
                  </a:ext>
                </a:extLst>
              </a:tr>
            </a:tbl>
          </a:graphicData>
        </a:graphic>
      </p:graphicFrame>
    </p:spTree>
    <p:extLst>
      <p:ext uri="{BB962C8B-B14F-4D97-AF65-F5344CB8AC3E}">
        <p14:creationId xmlns:p14="http://schemas.microsoft.com/office/powerpoint/2010/main" val="2452080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Действия директора</a:t>
            </a:r>
          </a:p>
        </p:txBody>
      </p:sp>
      <p:sp>
        <p:nvSpPr>
          <p:cNvPr id="3" name="Объект 2"/>
          <p:cNvSpPr>
            <a:spLocks noGrp="1"/>
          </p:cNvSpPr>
          <p:nvPr>
            <p:ph idx="1"/>
          </p:nvPr>
        </p:nvSpPr>
        <p:spPr/>
        <p:txBody>
          <a:bodyPr/>
          <a:lstStyle/>
          <a:p>
            <a:pPr marL="0" indent="0">
              <a:buNone/>
            </a:pPr>
            <a:r>
              <a:rPr lang="ru-RU" dirty="0" smtClean="0"/>
              <a:t>2. Провел регрессионный анализ:</a:t>
            </a:r>
          </a:p>
          <a:p>
            <a:pPr marL="0" indent="0">
              <a:buNone/>
            </a:pPr>
            <a:endParaRPr lang="ru-RU" dirty="0" smtClean="0"/>
          </a:p>
          <a:p>
            <a:pPr marL="0" indent="0">
              <a:buNone/>
            </a:pPr>
            <a:endParaRPr lang="ru-RU" dirty="0"/>
          </a:p>
        </p:txBody>
      </p:sp>
      <p:graphicFrame>
        <p:nvGraphicFramePr>
          <p:cNvPr id="4" name="Таблица 3"/>
          <p:cNvGraphicFramePr>
            <a:graphicFrameLocks noGrp="1"/>
          </p:cNvGraphicFramePr>
          <p:nvPr>
            <p:extLst>
              <p:ext uri="{D42A27DB-BD31-4B8C-83A1-F6EECF244321}">
                <p14:modId xmlns:p14="http://schemas.microsoft.com/office/powerpoint/2010/main" val="1597340847"/>
              </p:ext>
            </p:extLst>
          </p:nvPr>
        </p:nvGraphicFramePr>
        <p:xfrm>
          <a:off x="838200" y="2552131"/>
          <a:ext cx="10830636" cy="4121625"/>
        </p:xfrm>
        <a:graphic>
          <a:graphicData uri="http://schemas.openxmlformats.org/drawingml/2006/table">
            <a:tbl>
              <a:tblPr>
                <a:tableStyleId>{5C22544A-7EE6-4342-B048-85BDC9FD1C3A}</a:tableStyleId>
              </a:tblPr>
              <a:tblGrid>
                <a:gridCol w="2142029">
                  <a:extLst>
                    <a:ext uri="{9D8B030D-6E8A-4147-A177-3AD203B41FA5}">
                      <a16:colId xmlns:a16="http://schemas.microsoft.com/office/drawing/2014/main" val="1365892695"/>
                    </a:ext>
                  </a:extLst>
                </a:gridCol>
                <a:gridCol w="2871658">
                  <a:extLst>
                    <a:ext uri="{9D8B030D-6E8A-4147-A177-3AD203B41FA5}">
                      <a16:colId xmlns:a16="http://schemas.microsoft.com/office/drawing/2014/main" val="139555263"/>
                    </a:ext>
                  </a:extLst>
                </a:gridCol>
                <a:gridCol w="2189452">
                  <a:extLst>
                    <a:ext uri="{9D8B030D-6E8A-4147-A177-3AD203B41FA5}">
                      <a16:colId xmlns:a16="http://schemas.microsoft.com/office/drawing/2014/main" val="2753054606"/>
                    </a:ext>
                  </a:extLst>
                </a:gridCol>
                <a:gridCol w="2074526">
                  <a:extLst>
                    <a:ext uri="{9D8B030D-6E8A-4147-A177-3AD203B41FA5}">
                      <a16:colId xmlns:a16="http://schemas.microsoft.com/office/drawing/2014/main" val="2182481943"/>
                    </a:ext>
                  </a:extLst>
                </a:gridCol>
                <a:gridCol w="1552971">
                  <a:extLst>
                    <a:ext uri="{9D8B030D-6E8A-4147-A177-3AD203B41FA5}">
                      <a16:colId xmlns:a16="http://schemas.microsoft.com/office/drawing/2014/main" val="639713405"/>
                    </a:ext>
                  </a:extLst>
                </a:gridCol>
              </a:tblGrid>
              <a:tr h="1762691">
                <a:tc>
                  <a:txBody>
                    <a:bodyPr/>
                    <a:lstStyle/>
                    <a:p>
                      <a:pPr algn="ctr" fontAlgn="b"/>
                      <a:r>
                        <a:rPr lang="ru-RU" sz="2400" u="none" strike="noStrike" dirty="0" smtClean="0">
                          <a:effectLst/>
                          <a:latin typeface="Arial Cyr" panose="020B0604020202020204" pitchFamily="34" charset="0"/>
                          <a:cs typeface="Arial Cyr" panose="020B0604020202020204" pitchFamily="34" charset="0"/>
                        </a:rPr>
                        <a:t>Переменные</a:t>
                      </a:r>
                      <a:r>
                        <a:rPr lang="ru-RU" sz="2400" u="none" strike="noStrike" dirty="0">
                          <a:effectLst/>
                          <a:latin typeface="Arial Cyr" panose="020B0604020202020204" pitchFamily="34" charset="0"/>
                          <a:cs typeface="Arial Cyr" panose="020B0604020202020204" pitchFamily="34" charset="0"/>
                        </a:rPr>
                        <a:t> </a:t>
                      </a:r>
                      <a:endParaRPr lang="ru-RU" sz="2400" b="0" i="1" u="none" strike="noStrike" dirty="0">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ctr" fontAlgn="b"/>
                      <a:r>
                        <a:rPr lang="ru-RU" sz="2400" u="none" strike="noStrike">
                          <a:effectLst/>
                          <a:latin typeface="Arial Cyr" panose="020B0604020202020204" pitchFamily="34" charset="0"/>
                          <a:cs typeface="Arial Cyr" panose="020B0604020202020204" pitchFamily="34" charset="0"/>
                        </a:rPr>
                        <a:t>Коэффициенты</a:t>
                      </a:r>
                      <a:endParaRPr lang="ru-RU" sz="24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ctr" fontAlgn="b"/>
                      <a:r>
                        <a:rPr lang="ru-RU" sz="2400" u="none" strike="noStrike">
                          <a:effectLst/>
                          <a:latin typeface="Arial Cyr" panose="020B0604020202020204" pitchFamily="34" charset="0"/>
                          <a:cs typeface="Arial Cyr" panose="020B0604020202020204" pitchFamily="34" charset="0"/>
                        </a:rPr>
                        <a:t>Стандартная ошибка</a:t>
                      </a:r>
                      <a:endParaRPr lang="ru-RU" sz="24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ctr" fontAlgn="b"/>
                      <a:r>
                        <a:rPr lang="en-US" sz="2400" u="none" strike="noStrike">
                          <a:effectLst/>
                          <a:latin typeface="Arial Cyr" panose="020B0604020202020204" pitchFamily="34" charset="0"/>
                          <a:cs typeface="Arial Cyr" panose="020B0604020202020204" pitchFamily="34" charset="0"/>
                        </a:rPr>
                        <a:t>t-</a:t>
                      </a:r>
                      <a:r>
                        <a:rPr lang="ru-RU" sz="2400" u="none" strike="noStrike">
                          <a:effectLst/>
                          <a:latin typeface="Arial Cyr" panose="020B0604020202020204" pitchFamily="34" charset="0"/>
                          <a:cs typeface="Arial Cyr" panose="020B0604020202020204" pitchFamily="34" charset="0"/>
                        </a:rPr>
                        <a:t>статистика</a:t>
                      </a:r>
                      <a:endParaRPr lang="ru-RU" sz="24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ctr" fontAlgn="b"/>
                      <a:r>
                        <a:rPr lang="en-US" sz="2400" u="none" strike="noStrike">
                          <a:effectLst/>
                          <a:latin typeface="Arial Cyr" panose="020B0604020202020204" pitchFamily="34" charset="0"/>
                          <a:cs typeface="Arial Cyr" panose="020B0604020202020204" pitchFamily="34" charset="0"/>
                        </a:rPr>
                        <a:t>P-</a:t>
                      </a:r>
                      <a:r>
                        <a:rPr lang="ru-RU" sz="2400" u="none" strike="noStrike">
                          <a:effectLst/>
                          <a:latin typeface="Arial Cyr" panose="020B0604020202020204" pitchFamily="34" charset="0"/>
                          <a:cs typeface="Arial Cyr" panose="020B0604020202020204" pitchFamily="34" charset="0"/>
                        </a:rPr>
                        <a:t>Значение</a:t>
                      </a:r>
                      <a:endParaRPr lang="ru-RU" sz="2400" b="0" i="1"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extLst>
                  <a:ext uri="{0D108BD9-81ED-4DB2-BD59-A6C34878D82A}">
                    <a16:rowId xmlns:a16="http://schemas.microsoft.com/office/drawing/2014/main" val="791288039"/>
                  </a:ext>
                </a:extLst>
              </a:tr>
              <a:tr h="1762691">
                <a:tc>
                  <a:txBody>
                    <a:bodyPr/>
                    <a:lstStyle/>
                    <a:p>
                      <a:pPr algn="l" fontAlgn="b"/>
                      <a:r>
                        <a:rPr lang="en-US" sz="2400" u="none" strike="noStrike">
                          <a:effectLst/>
                          <a:latin typeface="Arial Cyr" panose="020B0604020202020204" pitchFamily="34" charset="0"/>
                          <a:cs typeface="Arial Cyr" panose="020B0604020202020204" pitchFamily="34" charset="0"/>
                        </a:rPr>
                        <a:t>Y-</a:t>
                      </a:r>
                      <a:r>
                        <a:rPr lang="ru-RU" sz="2400" u="none" strike="noStrike">
                          <a:effectLst/>
                          <a:latin typeface="Arial Cyr" panose="020B0604020202020204" pitchFamily="34" charset="0"/>
                          <a:cs typeface="Arial Cyr" panose="020B0604020202020204" pitchFamily="34" charset="0"/>
                        </a:rPr>
                        <a:t>пересечение</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19,2264</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12,5266</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1,5348</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0,1405</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extLst>
                  <a:ext uri="{0D108BD9-81ED-4DB2-BD59-A6C34878D82A}">
                    <a16:rowId xmlns:a16="http://schemas.microsoft.com/office/drawing/2014/main" val="677527615"/>
                  </a:ext>
                </a:extLst>
              </a:tr>
              <a:tr h="596243">
                <a:tc>
                  <a:txBody>
                    <a:bodyPr/>
                    <a:lstStyle/>
                    <a:p>
                      <a:pPr algn="l" fontAlgn="b"/>
                      <a:r>
                        <a:rPr lang="ru-RU" sz="2400" u="none" strike="noStrike">
                          <a:effectLst/>
                          <a:latin typeface="Arial Cyr" panose="020B0604020202020204" pitchFamily="34" charset="0"/>
                          <a:cs typeface="Arial Cyr" panose="020B0604020202020204" pitchFamily="34" charset="0"/>
                        </a:rPr>
                        <a:t>Оборот</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0,6329</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0,0748</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a:effectLst/>
                          <a:latin typeface="Arial Cyr" panose="020B0604020202020204" pitchFamily="34" charset="0"/>
                          <a:cs typeface="Arial Cyr" panose="020B0604020202020204" pitchFamily="34" charset="0"/>
                        </a:rPr>
                        <a:t>8,4616</a:t>
                      </a:r>
                      <a:endParaRPr lang="ru-RU" sz="2400" b="0" i="0" u="none" strike="noStrike">
                        <a:solidFill>
                          <a:srgbClr val="000000"/>
                        </a:solidFill>
                        <a:effectLst/>
                        <a:latin typeface="Arial Cyr" panose="020B0604020202020204" pitchFamily="34" charset="0"/>
                        <a:cs typeface="Arial Cyr" panose="020B0604020202020204" pitchFamily="34" charset="0"/>
                      </a:endParaRPr>
                    </a:p>
                  </a:txBody>
                  <a:tcPr marL="9525" marR="9525" marT="9525" marB="0" anchor="b"/>
                </a:tc>
                <a:tc>
                  <a:txBody>
                    <a:bodyPr/>
                    <a:lstStyle/>
                    <a:p>
                      <a:pPr algn="r" fontAlgn="b"/>
                      <a:r>
                        <a:rPr lang="ru-RU" sz="2400" u="none" strike="noStrike" dirty="0">
                          <a:effectLst/>
                          <a:latin typeface="Arial Cyr" panose="020B0604020202020204" pitchFamily="34" charset="0"/>
                          <a:cs typeface="Arial Cyr" panose="020B0604020202020204" pitchFamily="34" charset="0"/>
                        </a:rPr>
                        <a:t>0,0000</a:t>
                      </a:r>
                      <a:endParaRPr lang="ru-RU" sz="2400" b="0" i="0" u="none" strike="noStrike" dirty="0">
                        <a:solidFill>
                          <a:srgbClr val="000000"/>
                        </a:solidFill>
                        <a:effectLst/>
                        <a:latin typeface="Arial Cyr" panose="020B0604020202020204" pitchFamily="34" charset="0"/>
                        <a:cs typeface="Arial Cyr" panose="020B0604020202020204" pitchFamily="34" charset="0"/>
                      </a:endParaRPr>
                    </a:p>
                  </a:txBody>
                  <a:tcPr marL="9525" marR="9525" marT="9525" marB="0" anchor="b"/>
                </a:tc>
                <a:extLst>
                  <a:ext uri="{0D108BD9-81ED-4DB2-BD59-A6C34878D82A}">
                    <a16:rowId xmlns:a16="http://schemas.microsoft.com/office/drawing/2014/main" val="2071328815"/>
                  </a:ext>
                </a:extLst>
              </a:tr>
            </a:tbl>
          </a:graphicData>
        </a:graphic>
      </p:graphicFrame>
    </p:spTree>
    <p:extLst>
      <p:ext uri="{BB962C8B-B14F-4D97-AF65-F5344CB8AC3E}">
        <p14:creationId xmlns:p14="http://schemas.microsoft.com/office/powerpoint/2010/main" val="43774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3.Построил гистограмму  остатков</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3411538900"/>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6284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Сомнения</a:t>
            </a:r>
            <a:endParaRPr lang="ru-RU" dirty="0"/>
          </a:p>
        </p:txBody>
      </p:sp>
      <p:sp>
        <p:nvSpPr>
          <p:cNvPr id="3" name="Объект 2"/>
          <p:cNvSpPr>
            <a:spLocks noGrp="1"/>
          </p:cNvSpPr>
          <p:nvPr>
            <p:ph idx="1"/>
          </p:nvPr>
        </p:nvSpPr>
        <p:spPr>
          <a:xfrm>
            <a:off x="703385" y="1547446"/>
            <a:ext cx="10650415" cy="4629517"/>
          </a:xfrm>
        </p:spPr>
        <p:txBody>
          <a:bodyPr/>
          <a:lstStyle/>
          <a:p>
            <a:pPr marL="514350" indent="-514350">
              <a:buAutoNum type="arabicPeriod"/>
            </a:pPr>
            <a:r>
              <a:rPr lang="ru-RU" dirty="0" smtClean="0"/>
              <a:t>Оценка параметра а  говорит о том вероятность ошибки близка к 14%.</a:t>
            </a:r>
          </a:p>
          <a:p>
            <a:pPr marL="514350" indent="-514350">
              <a:buAutoNum type="arabicPeriod"/>
            </a:pPr>
            <a:r>
              <a:rPr lang="ru-RU" dirty="0" smtClean="0"/>
              <a:t>Асимметрия остатков говорит о том, что модель неадекватна (остатки не имеют нормального распределения).</a:t>
            </a:r>
          </a:p>
          <a:p>
            <a:pPr marL="514350" indent="-514350">
              <a:buAutoNum type="arabicPeriod"/>
            </a:pPr>
            <a:r>
              <a:rPr lang="ru-RU" dirty="0" smtClean="0"/>
              <a:t>Еще одно подтверждение неадекватности модели – зависимость между остатками и независимой переменной (оборотом).</a:t>
            </a:r>
          </a:p>
          <a:p>
            <a:pPr marL="0" indent="0">
              <a:buNone/>
            </a:pPr>
            <a:endParaRPr lang="ru-RU" dirty="0"/>
          </a:p>
        </p:txBody>
      </p:sp>
    </p:spTree>
    <p:extLst>
      <p:ext uri="{BB962C8B-B14F-4D97-AF65-F5344CB8AC3E}">
        <p14:creationId xmlns:p14="http://schemas.microsoft.com/office/powerpoint/2010/main" val="2166682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smtClean="0"/>
              <a:t>Диаграмма зависимости между остатками и независимой переменной</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1352466023"/>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909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Что делать дальше?</a:t>
            </a:r>
            <a:endParaRPr lang="ru-RU" dirty="0"/>
          </a:p>
        </p:txBody>
      </p:sp>
      <p:sp>
        <p:nvSpPr>
          <p:cNvPr id="3" name="Объект 2"/>
          <p:cNvSpPr>
            <a:spLocks noGrp="1"/>
          </p:cNvSpPr>
          <p:nvPr>
            <p:ph idx="1"/>
          </p:nvPr>
        </p:nvSpPr>
        <p:spPr/>
        <p:txBody>
          <a:bodyPr/>
          <a:lstStyle/>
          <a:p>
            <a:pPr marL="514350" indent="-514350">
              <a:buAutoNum type="arabicParenR"/>
            </a:pPr>
            <a:r>
              <a:rPr lang="ru-RU" dirty="0" smtClean="0"/>
              <a:t>Преобразовывать первичные данные?</a:t>
            </a:r>
          </a:p>
          <a:p>
            <a:pPr marL="514350" indent="-514350">
              <a:buAutoNum type="arabicParenR"/>
            </a:pPr>
            <a:r>
              <a:rPr lang="ru-RU" dirty="0" smtClean="0"/>
              <a:t>Подыскивать нелинейную модель?</a:t>
            </a:r>
          </a:p>
          <a:p>
            <a:pPr marL="514350" indent="-514350">
              <a:buAutoNum type="arabicParenR"/>
            </a:pPr>
            <a:r>
              <a:rPr lang="ru-RU" dirty="0" smtClean="0"/>
              <a:t>Или использовать построенную линейную модель?</a:t>
            </a:r>
            <a:endParaRPr lang="ru-RU" dirty="0"/>
          </a:p>
        </p:txBody>
      </p:sp>
    </p:spTree>
    <p:extLst>
      <p:ext uri="{BB962C8B-B14F-4D97-AF65-F5344CB8AC3E}">
        <p14:creationId xmlns:p14="http://schemas.microsoft.com/office/powerpoint/2010/main" val="2098276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 пользе графиков. </a:t>
            </a:r>
            <a:br>
              <a:rPr lang="ru-RU" dirty="0" smtClean="0"/>
            </a:br>
            <a:r>
              <a:rPr lang="ru-RU" dirty="0" smtClean="0"/>
              <a:t>Всегда первый шаг –построение графиков</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1024782069"/>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13267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По графику выводы:</a:t>
            </a:r>
            <a:endParaRPr lang="ru-RU" dirty="0"/>
          </a:p>
        </p:txBody>
      </p:sp>
      <p:sp>
        <p:nvSpPr>
          <p:cNvPr id="3" name="Объект 2"/>
          <p:cNvSpPr>
            <a:spLocks noGrp="1"/>
          </p:cNvSpPr>
          <p:nvPr>
            <p:ph idx="1"/>
          </p:nvPr>
        </p:nvSpPr>
        <p:spPr/>
        <p:txBody>
          <a:bodyPr/>
          <a:lstStyle/>
          <a:p>
            <a:pPr marL="514350" indent="-514350">
              <a:buAutoNum type="arabicPeriod"/>
            </a:pPr>
            <a:r>
              <a:rPr lang="ru-RU" dirty="0" smtClean="0"/>
              <a:t>Между оборотом и прибылью сильная положительная связь: чем больше величина оборота, тем больше величина прибыли.</a:t>
            </a:r>
          </a:p>
          <a:p>
            <a:pPr marL="514350" indent="-514350">
              <a:buAutoNum type="arabicPeriod"/>
            </a:pPr>
            <a:r>
              <a:rPr lang="ru-RU" dirty="0" smtClean="0"/>
              <a:t>Зависимость между прибылью и оборотом не линейна: сначала растет пропорционально, затем замедляется и, начиная с величины оборота около 180 тыс. долл., прибыль остается постоянной на уровне около 140-155 тыс., т.е. никак не связана с оборотом</a:t>
            </a:r>
          </a:p>
          <a:p>
            <a:pPr marL="514350" indent="-514350">
              <a:buAutoNum type="arabicPeriod"/>
            </a:pPr>
            <a:r>
              <a:rPr lang="ru-RU" dirty="0" smtClean="0"/>
              <a:t>Можно сделать вывод о том, что объединять магазины нужно только в том случае, когда их суммарный оборот не превышает 180 тыс. долл.                    .</a:t>
            </a:r>
            <a:endParaRPr lang="ru-RU" dirty="0"/>
          </a:p>
        </p:txBody>
      </p:sp>
    </p:spTree>
    <p:extLst>
      <p:ext uri="{BB962C8B-B14F-4D97-AF65-F5344CB8AC3E}">
        <p14:creationId xmlns:p14="http://schemas.microsoft.com/office/powerpoint/2010/main" val="42394684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207171" cy="5629275"/>
          </a:xfrm>
        </p:spPr>
        <p:txBody>
          <a:bodyPr>
            <a:normAutofit/>
          </a:bodyPr>
          <a:lstStyle/>
          <a:p>
            <a:r>
              <a:rPr lang="ru-RU" dirty="0" smtClean="0"/>
              <a:t>Одного правильно подобранного графика достаточно для принятия эффективного решения</a:t>
            </a:r>
            <a:endParaRPr lang="ru-RU" dirty="0"/>
          </a:p>
        </p:txBody>
      </p:sp>
      <p:sp>
        <p:nvSpPr>
          <p:cNvPr id="3" name="Объект 2"/>
          <p:cNvSpPr>
            <a:spLocks noGrp="1"/>
          </p:cNvSpPr>
          <p:nvPr>
            <p:ph idx="1"/>
          </p:nvPr>
        </p:nvSpPr>
        <p:spPr>
          <a:xfrm>
            <a:off x="838200" y="1869168"/>
            <a:ext cx="10515600" cy="4351338"/>
          </a:xfrm>
        </p:spPr>
        <p:txBody>
          <a:bodyPr/>
          <a:lstStyle/>
          <a:p>
            <a:endParaRPr lang="ru-RU"/>
          </a:p>
        </p:txBody>
      </p:sp>
    </p:spTree>
    <p:extLst>
      <p:ext uri="{BB962C8B-B14F-4D97-AF65-F5344CB8AC3E}">
        <p14:creationId xmlns:p14="http://schemas.microsoft.com/office/powerpoint/2010/main" val="96417054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TotalTime>
  <Words>1090</Words>
  <Application>Microsoft Office PowerPoint</Application>
  <PresentationFormat>Широкоэкранный</PresentationFormat>
  <Paragraphs>237</Paragraphs>
  <Slides>25</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25</vt:i4>
      </vt:variant>
    </vt:vector>
  </HeadingPairs>
  <TitlesOfParts>
    <vt:vector size="31" baseType="lpstr">
      <vt:lpstr>Arial</vt:lpstr>
      <vt:lpstr>Arial Cyr</vt:lpstr>
      <vt:lpstr>Calibri</vt:lpstr>
      <vt:lpstr>Calibri Light</vt:lpstr>
      <vt:lpstr>Times New Roman</vt:lpstr>
      <vt:lpstr>Тема Office</vt:lpstr>
      <vt:lpstr>Как создавать отчет</vt:lpstr>
      <vt:lpstr>Исходные данные для анализа динамики доходности ведущих издательств в области экономики для студентов</vt:lpstr>
      <vt:lpstr>Отчет</vt:lpstr>
      <vt:lpstr>Презентация PowerPoint</vt:lpstr>
      <vt:lpstr>Задача статистического анализа – найти ответ на конкретную прикладную проблему, дать рекомендации для ЛПР, убедить в важности и обоснованности выводов.</vt:lpstr>
      <vt:lpstr>Презентация PowerPoint</vt:lpstr>
      <vt:lpstr>Правильный вывод – основа для отчета</vt:lpstr>
      <vt:lpstr>Структура отчета</vt:lpstr>
      <vt:lpstr>Описание данных</vt:lpstr>
      <vt:lpstr>Обоснование и применение методов исследования</vt:lpstr>
      <vt:lpstr>Обоснование и применение методов исследования</vt:lpstr>
      <vt:lpstr>Обоснование и применение методов исследования</vt:lpstr>
      <vt:lpstr>Способы обнаружения связи между переменными в зависимости от типов переменных</vt:lpstr>
      <vt:lpstr>Условия применимости</vt:lpstr>
      <vt:lpstr>Пример 2</vt:lpstr>
      <vt:lpstr>Презентация PowerPoint</vt:lpstr>
      <vt:lpstr>Действия директора</vt:lpstr>
      <vt:lpstr>Действия директора</vt:lpstr>
      <vt:lpstr>3.Построил гистограмму  остатков</vt:lpstr>
      <vt:lpstr>Сомнения</vt:lpstr>
      <vt:lpstr>Диаграмма зависимости между остатками и независимой переменной</vt:lpstr>
      <vt:lpstr>Что делать дальше?</vt:lpstr>
      <vt:lpstr>О пользе графиков.  Всегда первый шаг –построение графиков</vt:lpstr>
      <vt:lpstr>По графику выводы:</vt:lpstr>
      <vt:lpstr>Одного правильно подобранного графика достаточно для принятия эффективного решения</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Примеры</dc:title>
  <dc:creator>Фролова Наталья Владимировна</dc:creator>
  <cp:lastModifiedBy>НВФ</cp:lastModifiedBy>
  <cp:revision>61</cp:revision>
  <dcterms:created xsi:type="dcterms:W3CDTF">2014-05-13T11:11:27Z</dcterms:created>
  <dcterms:modified xsi:type="dcterms:W3CDTF">2020-02-26T12:53:39Z</dcterms:modified>
</cp:coreProperties>
</file>