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Анализ рынка организации</a:t>
            </a:r>
            <a:br/>
            <a:r>
              <a:t>беговых мероприятий в России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Исследование рынка, ориентированное на сбыт</a:t>
            </a:r>
          </a:p>
          <a:p>
            <a:br/>
            <a:pPr algn="ctr">
              <a:defRPr sz="1400">
                <a:solidFill>
                  <a:srgbClr val="BBCCDD"/>
                </a:solidFill>
              </a:defRPr>
            </a:pPr>
            <a:r>
              <a:t>Источник: ГИРБО (bo.nalog.gov.ru) | Период: 2021–2025</a:t>
            </a:r>
            <a:br/>
            <a:r>
              <a:t>11 компаний | 49 наблюдений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Цель и гипотезы исследования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Цель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Оценить финансовое состояние и динамику развития компаний-организаторов беговых мероприятий в РФ (2021–2025)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Гипотезы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H1: Рынок демонстрирует устойчивый рост выручки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H2: Существует зависимость между масштабом и рентабельностью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H3: Доля себестоимости снижается с ростом выручки (эффект масштаба)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H4: Компании образуют кластеры по финансовому профилю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H5: Рост выручки сопровождается ростом кредиторской задолженности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Метод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Вторичные данные из ГИРБО (API ФНС) | 11 компаний | 49 наблюдений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Состав выборки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.0" y="10972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Бренд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Юрлицо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Специализация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Гонка Героев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АНО «ЛИГА ГЕРОЕВ»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Забеги с препятствиями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Марафон Сервис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«МАРАФОН СЕРВИС»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Марафоны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TIMERMAN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«АСМ «НОВЫЙ СПОРТ»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Триатлон, забеги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Бегом по Золотому кольцу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«АРЕНА ПЛЮС»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Беговые туры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IRONSTAR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«АРХИТЕКТУРА СПОРТА»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Триатлон, забеги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ГРУТ / Вайлд Трейл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«ГРУТ»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Трейлраннинг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parkrun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АНО «ПАРКРАН»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Парковые забеги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PushkinRun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АССОЦИАЦИЯ «ПЕТЕРБУРГСКИЙ СПОРТ»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Городские забеги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Беги, Герой!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АНО «РЕЙТИНГ СПОРТ»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Городские забеги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S95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АНО «ФИЗКУЛЬТУРА»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Парковые забеги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Ярославское беговое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ООО «ЯРО. БЕГОВОЕ СООБЩЕСТВО»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Региональные забеги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Динамика рынка: рост в 3.2 раза за 4 года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Суммарная выручка: 936 → 2 988 млн руб.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Медианный темп роста: +34% г/г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Темпы замедляются: 50% → 20%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Все 7 компаний с данными показали рост</a:t>
            </a:r>
          </a:p>
        </p:txBody>
      </p:sp>
      <p:pic>
        <p:nvPicPr>
          <p:cNvPr id="4" name="Picture 3" descr="market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754880" cy="16858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Динамика ключевых показателей по компаниям</a:t>
            </a:r>
          </a:p>
        </p:txBody>
      </p:sp>
      <p:pic>
        <p:nvPicPr>
          <p:cNvPr id="3" name="Picture 2" descr="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58067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Распределение показателей по компаниям</a:t>
            </a:r>
          </a:p>
        </p:txBody>
      </p:sp>
      <p:pic>
        <p:nvPicPr>
          <p:cNvPr id="3" name="Picture 2" descr="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5972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Результаты проверки гипотез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.0" y="1097280"/>
          <a:ext cx="8229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Гипотеза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Результат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p-value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Ключевой вывод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H1: Устойчивый рост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ПОДТВЕРЖДЕНА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&lt; 0.0001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Медиана +34% г/г, выручка ×3.2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H2: Масштаб → рентаб.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Не подтверждена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ρ = −0.08, связь незначима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H3: Эффект масштаба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Не подтверждена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ρ = −0.20, незначима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H4: Кластеры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Не подтв. форм.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силуэт 0.21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3 содержательных кластера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H5: Рост → рост КЗ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Не подтверждена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0.114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ρ = +0.32, тенденция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Корреляционная матрица (Спирмен)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Выручка не коррелирует с прибылью (ρ = 0.11)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Активы ↔ КЗ: ρ = +0.92 (рост за счёт КЗ)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Валовая рентабельность → чистая прибыль: ρ = +0.75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Оборачиваемость ↔ активы: ρ = −0.75</a:t>
            </a:r>
          </a:p>
        </p:txBody>
      </p:sp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389120" cy="39339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Визуализация гипотез H2, H3, H5</a:t>
            </a:r>
          </a:p>
        </p:txBody>
      </p:sp>
      <p:pic>
        <p:nvPicPr>
          <p:cNvPr id="3" name="Picture 2" descr="hypothesis_sca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229600" cy="23679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Регрессионный анализ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Модель: Рентабельность = −4.2 + 1.4 · ln(Выручка)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R² = 0.031, p = 0.301 — модель незначима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Условия МНК выполнены (остатки нормальны)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Рентабельность определяется не масштабом,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а бизнес-моделью и управлением затратами</a:t>
            </a:r>
          </a:p>
        </p:txBody>
      </p:sp>
      <p:pic>
        <p:nvPicPr>
          <p:cNvPr id="4" name="Picture 3" descr="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572000" cy="13145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Кластерный анализ: 3 типа компаний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41148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!Кластер 0 — Малые организаторы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Паркран, Петерб. спорт, Арена Плюс, TIMERMAN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Низкая рентабельность (~5%), низкая КЗ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!Кластер 1 — Кэш-генераторы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IRONSTAR, ГРУТ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Высокая ликвидность (~78% ДС), модель предоплат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!Кластер 2 — Лидеры рынка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Лига героев, Марафон Сервис</a:t>
            </a:r>
          </a:p>
          <a:p>
            <a:pPr>
              <a:spcAft>
                <a:spcPts val="800"/>
              </a:spcAft>
              <a:defRPr sz="1300">
                <a:solidFill>
                  <a:srgbClr val="2D2D2D"/>
                </a:solidFill>
              </a:defRPr>
            </a:pPr>
            <a:r>
              <a:t>Наибольшая выручка, рентабельность ~16%</a:t>
            </a:r>
          </a:p>
        </p:txBody>
      </p:sp>
      <p:pic>
        <p:nvPicPr>
          <p:cNvPr id="4" name="Picture 3" descr="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05840"/>
            <a:ext cx="4572000" cy="15750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Ключевые 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6100"/>
                </a:solidFill>
              </a:defRPr>
            </a:pPr>
            <a:r>
              <a:t>Рынок быстро растёт: суммарная выручка ×3.2 за 4 года, медиана +34% г/г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9C0006"/>
                </a:solidFill>
              </a:defRPr>
            </a:pPr>
            <a:r>
              <a:t>Прибыльность НЕ связана с масштабом — крупнейшая компания убыточна 4 года из 5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Две модели финансирования: предоплаты (высокая ликвидность) vs кредиторская задолженность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Себестоимость — ключевой фактор: медианная доля 89%, маржа ~10%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Бизнес low-asset: компании с минимальными ОС растут быстрее всех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4E79"/>
                </a:solidFill>
              </a:defRPr>
            </a:pPr>
            <a:r>
              <a:t>Рекомендации для ЛПР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Для организаторов мероприятий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Контролировать себестоимость (маржа ~10%)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Использовать модель предоплат от участников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Не гнаться за масштабом ради масштаба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Для инвесторов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Рынок растущий (+34% г/г), входной барьер низкий (low-asset)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Дифференциация бизнес-модели важнее размера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600"/>
              </a:spcAft>
              <a:defRPr sz="1400" b="1">
                <a:solidFill>
                  <a:srgbClr val="1F4E79"/>
                </a:solidFill>
              </a:defRPr>
            </a:pPr>
            <a:r>
              <a:t>Для регуляторов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Рынок прозрачен через ГИРБО</a:t>
            </a:r>
          </a:p>
          <a:p>
            <a:pPr>
              <a:spcAft>
                <a:spcPts val="600"/>
              </a:spcAft>
              <a:defRPr sz="1300">
                <a:solidFill>
                  <a:srgbClr val="2D2D2D"/>
                </a:solidFill>
              </a:defRPr>
            </a:pPr>
            <a:r>
              <a:t>Стандартизировать отчётность НКО для сопоставимости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